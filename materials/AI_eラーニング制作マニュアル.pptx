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63391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A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-1097280"/>
            <a:ext cx="5486400" cy="5486400"/>
          </a:xfrm>
          <a:prstGeom prst="ellipse">
            <a:avLst/>
          </a:prstGeom>
          <a:solidFill>
            <a:srgbClr val="126E82"/>
          </a:solidFill>
          <a:ln w="12700">
            <a:solidFill>
              <a:srgbClr val="126E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75520" y="4206240"/>
            <a:ext cx="3200400" cy="3200400"/>
          </a:xfrm>
          <a:prstGeom prst="ellipse">
            <a:avLst/>
          </a:prstGeom>
          <a:solidFill>
            <a:srgbClr val="F4A259"/>
          </a:solidFill>
          <a:ln w="12700">
            <a:solidFill>
              <a:srgbClr val="F4A25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8288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B9DCE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制作マニュアル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28600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AIを活用した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eラーニング動画の作り方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42062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9DCE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Claude × Fish Audio × HeyGen で、スライド・ナレーション・アバター動画を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B9DCE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自分ひとりで完成させる8ステップ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6035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9DCE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社内共有用｜2026.09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A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全体の制作フロー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C6B7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6つの工程を順番に進めるだけ。すべてテンプレート化できる作業です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53796" y="2103120"/>
            <a:ext cx="1600200" cy="2377440"/>
          </a:xfrm>
          <a:prstGeom prst="roundRect">
            <a:avLst>
              <a:gd name="adj" fmla="val 8571"/>
            </a:avLst>
          </a:prstGeom>
          <a:solidFill>
            <a:srgbClr val="F3F8FA"/>
          </a:solidFill>
          <a:ln w="12700">
            <a:solidFill>
              <a:srgbClr val="F3F8F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33856" y="2331720"/>
            <a:ext cx="640080" cy="640080"/>
          </a:xfrm>
          <a:prstGeom prst="ellipse">
            <a:avLst/>
          </a:prstGeom>
          <a:solidFill>
            <a:srgbClr val="126E82"/>
          </a:solidFill>
          <a:ln w="12700">
            <a:solidFill>
              <a:srgbClr val="126E8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133856" y="2331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45236" y="3063240"/>
            <a:ext cx="1417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2A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スライド作成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45236" y="393192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C6B7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Claude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253996" y="310896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4A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510028" y="2103120"/>
            <a:ext cx="1600200" cy="2377440"/>
          </a:xfrm>
          <a:prstGeom prst="roundRect">
            <a:avLst>
              <a:gd name="adj" fmla="val 8571"/>
            </a:avLst>
          </a:prstGeom>
          <a:solidFill>
            <a:srgbClr val="F3F8FA"/>
          </a:solidFill>
          <a:ln w="12700">
            <a:solidFill>
              <a:srgbClr val="F3F8F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90088" y="2331720"/>
            <a:ext cx="640080" cy="640080"/>
          </a:xfrm>
          <a:prstGeom prst="ellipse">
            <a:avLst/>
          </a:prstGeom>
          <a:solidFill>
            <a:srgbClr val="126E82"/>
          </a:solidFill>
          <a:ln w="12700">
            <a:solidFill>
              <a:srgbClr val="126E8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990088" y="2331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2601468" y="3063240"/>
            <a:ext cx="1417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2A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ナレーション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B2A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台本作成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2601468" y="393192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C6B7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Claude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4110228" y="310896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4A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366260" y="2103120"/>
            <a:ext cx="1600200" cy="2377440"/>
          </a:xfrm>
          <a:prstGeom prst="roundRect">
            <a:avLst>
              <a:gd name="adj" fmla="val 8571"/>
            </a:avLst>
          </a:prstGeom>
          <a:solidFill>
            <a:srgbClr val="F3F8FA"/>
          </a:solidFill>
          <a:ln w="12700">
            <a:solidFill>
              <a:srgbClr val="F3F8F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46320" y="2331720"/>
            <a:ext cx="640080" cy="640080"/>
          </a:xfrm>
          <a:prstGeom prst="ellipse">
            <a:avLst/>
          </a:prstGeom>
          <a:solidFill>
            <a:srgbClr val="F4A259"/>
          </a:solidFill>
          <a:ln w="12700">
            <a:solidFill>
              <a:srgbClr val="F4A25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846320" y="2331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457700" y="3063240"/>
            <a:ext cx="1417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2A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自分の声を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B2A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AI音声化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4457700" y="393192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C6B7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Fish Audio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5966460" y="310896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4A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222492" y="2103120"/>
            <a:ext cx="1600200" cy="2377440"/>
          </a:xfrm>
          <a:prstGeom prst="roundRect">
            <a:avLst>
              <a:gd name="adj" fmla="val 8571"/>
            </a:avLst>
          </a:prstGeom>
          <a:solidFill>
            <a:srgbClr val="F3F8FA"/>
          </a:solidFill>
          <a:ln w="12700">
            <a:solidFill>
              <a:srgbClr val="F3F8F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702552" y="2331720"/>
            <a:ext cx="640080" cy="640080"/>
          </a:xfrm>
          <a:prstGeom prst="ellipse">
            <a:avLst/>
          </a:prstGeom>
          <a:solidFill>
            <a:srgbClr val="F4A259"/>
          </a:solidFill>
          <a:ln w="12700">
            <a:solidFill>
              <a:srgbClr val="F4A259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702552" y="2331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6313932" y="3063240"/>
            <a:ext cx="1417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2A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アバター動画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B2A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作成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6313932" y="393192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C6B7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HeyGen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822692" y="310896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4A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078724" y="2103120"/>
            <a:ext cx="1600200" cy="2377440"/>
          </a:xfrm>
          <a:prstGeom prst="roundRect">
            <a:avLst>
              <a:gd name="adj" fmla="val 8571"/>
            </a:avLst>
          </a:prstGeom>
          <a:solidFill>
            <a:srgbClr val="F3F8FA"/>
          </a:solidFill>
          <a:ln w="12700">
            <a:solidFill>
              <a:srgbClr val="F3F8F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558784" y="2331720"/>
            <a:ext cx="640080" cy="640080"/>
          </a:xfrm>
          <a:prstGeom prst="ellipse">
            <a:avLst/>
          </a:prstGeom>
          <a:solidFill>
            <a:srgbClr val="126E82"/>
          </a:solidFill>
          <a:ln w="12700">
            <a:solidFill>
              <a:srgbClr val="126E8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558784" y="2331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8170164" y="3063240"/>
            <a:ext cx="1417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2A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スライド・音声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B2A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アバターを合成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8170164" y="393192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C6B7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Claude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9678924" y="310896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4A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9934956" y="2103120"/>
            <a:ext cx="1600200" cy="2377440"/>
          </a:xfrm>
          <a:prstGeom prst="roundRect">
            <a:avLst>
              <a:gd name="adj" fmla="val 8571"/>
            </a:avLst>
          </a:prstGeom>
          <a:solidFill>
            <a:srgbClr val="F3F8FA"/>
          </a:solidFill>
          <a:ln w="12700">
            <a:solidFill>
              <a:srgbClr val="F3F8F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415016" y="2331720"/>
            <a:ext cx="640080" cy="640080"/>
          </a:xfrm>
          <a:prstGeom prst="ellipse">
            <a:avLst/>
          </a:prstGeom>
          <a:solidFill>
            <a:srgbClr val="126E82"/>
          </a:solidFill>
          <a:ln w="12700">
            <a:solidFill>
              <a:srgbClr val="126E82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10415016" y="2331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10026396" y="3063240"/>
            <a:ext cx="1417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2A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テロップ追加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B2A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完成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10026396" y="393192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C6B7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Claude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48640" y="4937760"/>
            <a:ext cx="11091672" cy="1005840"/>
          </a:xfrm>
          <a:prstGeom prst="rect">
            <a:avLst/>
          </a:prstGeom>
          <a:solidFill>
            <a:srgbClr val="E6F2F5"/>
          </a:solidFill>
          <a:ln w="12700">
            <a:solidFill>
              <a:srgbClr val="E6F2F5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822960" y="5029200"/>
            <a:ext cx="10543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6E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最終成果物：</a:t>
            </a:r>
            <a:r>
              <a:rPr lang="en-US" sz="1400" dirty="0">
                <a:solidFill>
                  <a:srgbClr val="1F2D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PowerPointを背景に、右上に講師のAIアバター、画面下部にナレーションテロップが表示されるeラーニング動画（MP4）</a:t>
            </a:r>
            <a:endParaRPr lang="en-US" sz="1400" dirty="0"/>
          </a:p>
        </p:txBody>
      </p:sp>
      <p:sp>
        <p:nvSpPr>
          <p:cNvPr id="41" name="Text 39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 eラーニングコンテンツ制作マニュアル</a:t>
            </a:r>
            <a:endParaRPr lang="en-US" sz="900" dirty="0"/>
          </a:p>
        </p:txBody>
      </p:sp>
      <p:sp>
        <p:nvSpPr>
          <p:cNvPr id="42" name="Text 40"/>
          <p:cNvSpPr txBox="1"/>
          <p:nvPr/>
        </p:nvSpPr>
        <p:spPr>
          <a:xfrm>
            <a:off x="1118311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A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使用するAIツールと役割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C6B7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3つのツールだけで完結します。アカウントは事前に用意しておいてください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520440" cy="4206240"/>
          </a:xfrm>
          <a:prstGeom prst="roundRect">
            <a:avLst>
              <a:gd name="adj" fmla="val 3896"/>
            </a:avLst>
          </a:prstGeom>
          <a:solidFill>
            <a:srgbClr val="F3F8FA"/>
          </a:solidFill>
          <a:ln w="12700">
            <a:solidFill>
              <a:srgbClr val="F3F8F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920240"/>
            <a:ext cx="2971800" cy="822960"/>
          </a:xfrm>
          <a:prstGeom prst="roundRect">
            <a:avLst>
              <a:gd name="adj" fmla="val 11111"/>
            </a:avLst>
          </a:prstGeom>
          <a:solidFill>
            <a:srgbClr val="126E82"/>
          </a:solidFill>
          <a:ln w="12700">
            <a:solidFill>
              <a:srgbClr val="126E8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92024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88036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A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スライド作成／台本作成／動画合成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337560"/>
            <a:ext cx="2971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D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研修内容の整理・構成・PowerPoint作成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D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スライドからナレーション台本を作成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D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スライド・音声・アバター・テロップの合成（コード実行）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43400" y="1645920"/>
            <a:ext cx="3520440" cy="4206240"/>
          </a:xfrm>
          <a:prstGeom prst="roundRect">
            <a:avLst>
              <a:gd name="adj" fmla="val 3896"/>
            </a:avLst>
          </a:prstGeom>
          <a:solidFill>
            <a:srgbClr val="F3F8FA"/>
          </a:solidFill>
          <a:ln w="12700">
            <a:solidFill>
              <a:srgbClr val="F3F8F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17720" y="1920240"/>
            <a:ext cx="2971800" cy="822960"/>
          </a:xfrm>
          <a:prstGeom prst="roundRect">
            <a:avLst>
              <a:gd name="adj" fmla="val 11111"/>
            </a:avLst>
          </a:prstGeom>
          <a:solidFill>
            <a:srgbClr val="F4A259"/>
          </a:solidFill>
          <a:ln w="12700">
            <a:solidFill>
              <a:srgbClr val="F4A25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17720" y="192024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Fish Audio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4617720" y="288036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A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音声生成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617720" y="3337560"/>
            <a:ext cx="2971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D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Premium Voice Cloneで自分の声を登録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D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台本を入力して自分の声のナレーションを生成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D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読み間違い・速度の調整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38160" y="1645920"/>
            <a:ext cx="3520440" cy="4206240"/>
          </a:xfrm>
          <a:prstGeom prst="roundRect">
            <a:avLst>
              <a:gd name="adj" fmla="val 3896"/>
            </a:avLst>
          </a:prstGeom>
          <a:solidFill>
            <a:srgbClr val="F3F8FA"/>
          </a:solidFill>
          <a:ln w="12700">
            <a:solidFill>
              <a:srgbClr val="F3F8F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12480" y="1920240"/>
            <a:ext cx="2971800" cy="822960"/>
          </a:xfrm>
          <a:prstGeom prst="roundRect">
            <a:avLst>
              <a:gd name="adj" fmla="val 11111"/>
            </a:avLst>
          </a:prstGeom>
          <a:solidFill>
            <a:srgbClr val="0B2A3C"/>
          </a:solidFill>
          <a:ln w="12700">
            <a:solidFill>
              <a:srgbClr val="0B2A3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412480" y="192024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HeyGen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8412480" y="288036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A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アバター生成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8412480" y="3337560"/>
            <a:ext cx="2971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D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自分の写真＋音声をアップロード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D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リップシンクした講師アバター動画を生成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D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口の動き・表情の確認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 eラーニングコンテンツ制作マニュアル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118311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417320" cy="502920"/>
          </a:xfrm>
          <a:prstGeom prst="roundRect">
            <a:avLst>
              <a:gd name="adj" fmla="val 50909"/>
            </a:avLst>
          </a:prstGeom>
          <a:solidFill>
            <a:srgbClr val="0B2A3C"/>
          </a:solidFill>
          <a:ln w="12700">
            <a:solidFill>
              <a:srgbClr val="0B2A3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STEP 0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2148840" y="384048"/>
            <a:ext cx="94914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A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事前準備：自分の声をFish Audioに登録する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2148840" y="987552"/>
            <a:ext cx="9491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C6B7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初回のみ。一度登録すれば、以降は文章を入力するだけで自分の声のナレーションが作れます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486400" cy="3017520"/>
          </a:xfrm>
          <a:prstGeom prst="roundRect">
            <a:avLst>
              <a:gd name="adj" fmla="val 3636"/>
            </a:avLst>
          </a:prstGeom>
          <a:solidFill>
            <a:srgbClr val="F3F8FA"/>
          </a:solidFill>
          <a:ln w="12700">
            <a:solidFill>
              <a:srgbClr val="F3F8F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81051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6E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やること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212848"/>
            <a:ext cx="5029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2D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Fish Audioのアカウントを作成する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2D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Premium Voice Clone（プレミアムクローンボイス）を選ぶ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2D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自分の音声データをアップロードして声を学習させる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2D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テスト文章を入力して、自分の声に近いか確認する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309360" y="1645920"/>
            <a:ext cx="5303520" cy="3017520"/>
          </a:xfrm>
          <a:prstGeom prst="roundRect">
            <a:avLst>
              <a:gd name="adj" fmla="val 3636"/>
            </a:avLst>
          </a:prstGeom>
          <a:solidFill>
            <a:srgbClr val="F3F8FA"/>
          </a:solidFill>
          <a:ln w="12700">
            <a:solidFill>
              <a:srgbClr val="F3F8F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37960" y="181051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6E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事前に準備するもの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537960" y="2212848"/>
            <a:ext cx="48463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2D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自分の音声データ（クリアな録音）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2D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Fish Audioアカウント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2D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Premium Voice Cloneで作成した自分のAI音声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4937760"/>
            <a:ext cx="11091672" cy="1005840"/>
          </a:xfrm>
          <a:prstGeom prst="roundRect">
            <a:avLst>
              <a:gd name="adj" fmla="val 10909"/>
            </a:avLst>
          </a:prstGeom>
          <a:solidFill>
            <a:srgbClr val="E6F2F5"/>
          </a:solidFill>
          <a:ln w="12700">
            <a:solidFill>
              <a:srgbClr val="E6F2F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5029200"/>
            <a:ext cx="10543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25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ポイント　</a:t>
            </a:r>
            <a:r>
              <a:rPr lang="en-US" sz="1300" dirty="0">
                <a:solidFill>
                  <a:srgbClr val="1F2D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HeyGenのアカウントもこの段階で作っておくと、STEP 4で止まりません。クローン音声の品質は元の録音品質で決まるので、静かな環境ではっきり録音したデータを使ってください。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 eラーニングコンテンツ制作マニュアル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1118311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417320" cy="502920"/>
          </a:xfrm>
          <a:prstGeom prst="roundRect">
            <a:avLst>
              <a:gd name="adj" fmla="val 50909"/>
            </a:avLst>
          </a:prstGeom>
          <a:solidFill>
            <a:srgbClr val="0B2A3C"/>
          </a:solidFill>
          <a:ln w="12700">
            <a:solidFill>
              <a:srgbClr val="0B2A3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STEP 1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2148840" y="384048"/>
            <a:ext cx="94914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A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Claudeでスライドを作成する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2148840" y="987552"/>
            <a:ext cx="9491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C6B7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eラーニングで説明したい内容をClaudeに伝え、やり取りしながらPowerPointに仕上げます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120640" cy="3200400"/>
          </a:xfrm>
          <a:prstGeom prst="roundRect">
            <a:avLst>
              <a:gd name="adj" fmla="val 3429"/>
            </a:avLst>
          </a:prstGeom>
          <a:solidFill>
            <a:srgbClr val="F3F8FA"/>
          </a:solidFill>
          <a:ln w="12700">
            <a:solidFill>
              <a:srgbClr val="F3F8F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81051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6E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Claudeに伝えること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212848"/>
            <a:ext cx="46634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F2D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研修のテーマ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F2D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対象者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F2D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研修時間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F2D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学習してほしい内容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F2D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必ず説明したいポイント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F2D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スライドのデザインイメージ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943600" y="1645920"/>
            <a:ext cx="5669280" cy="3200400"/>
          </a:xfrm>
          <a:prstGeom prst="roundRect">
            <a:avLst>
              <a:gd name="adj" fmla="val 4286"/>
            </a:avLst>
          </a:prstGeom>
          <a:solidFill>
            <a:srgbClr val="0B2A3C"/>
          </a:solidFill>
          <a:ln w="12700">
            <a:solidFill>
              <a:srgbClr val="0B2A3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17920" y="18288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9DCE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スライド制作の原則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217920" y="224028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1スライド ＝ 1メッセージ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6217920" y="301752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9DCE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文章だけで説明しない。動画を見た人が直感的に理解できる要素を使う：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0" y="3566160"/>
            <a:ext cx="1554480" cy="411480"/>
          </a:xfrm>
          <a:prstGeom prst="roundRect">
            <a:avLst>
              <a:gd name="adj" fmla="val 44444"/>
            </a:avLst>
          </a:prstGeom>
          <a:solidFill>
            <a:srgbClr val="126E82"/>
          </a:solidFill>
          <a:ln w="12700">
            <a:solidFill>
              <a:srgbClr val="126E8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17920" y="356616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図解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909560" y="3566160"/>
            <a:ext cx="1554480" cy="411480"/>
          </a:xfrm>
          <a:prstGeom prst="roundRect">
            <a:avLst>
              <a:gd name="adj" fmla="val 44444"/>
            </a:avLst>
          </a:prstGeom>
          <a:solidFill>
            <a:srgbClr val="126E82"/>
          </a:solidFill>
          <a:ln w="12700">
            <a:solidFill>
              <a:srgbClr val="126E8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909560" y="356616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アイコン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601200" y="3566160"/>
            <a:ext cx="1554480" cy="411480"/>
          </a:xfrm>
          <a:prstGeom prst="roundRect">
            <a:avLst>
              <a:gd name="adj" fmla="val 44444"/>
            </a:avLst>
          </a:prstGeom>
          <a:solidFill>
            <a:srgbClr val="126E82"/>
          </a:solidFill>
          <a:ln w="12700">
            <a:solidFill>
              <a:srgbClr val="126E8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601200" y="356616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写真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17920" y="4114800"/>
            <a:ext cx="1554480" cy="411480"/>
          </a:xfrm>
          <a:prstGeom prst="roundRect">
            <a:avLst>
              <a:gd name="adj" fmla="val 44444"/>
            </a:avLst>
          </a:prstGeom>
          <a:solidFill>
            <a:srgbClr val="126E82"/>
          </a:solidFill>
          <a:ln w="12700">
            <a:solidFill>
              <a:srgbClr val="126E8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217920" y="411480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フロー図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909560" y="4114800"/>
            <a:ext cx="1554480" cy="411480"/>
          </a:xfrm>
          <a:prstGeom prst="roundRect">
            <a:avLst>
              <a:gd name="adj" fmla="val 44444"/>
            </a:avLst>
          </a:prstGeom>
          <a:solidFill>
            <a:srgbClr val="126E82"/>
          </a:solidFill>
          <a:ln w="12700">
            <a:solidFill>
              <a:srgbClr val="126E8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909560" y="411480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比較表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601200" y="4114800"/>
            <a:ext cx="1554480" cy="411480"/>
          </a:xfrm>
          <a:prstGeom prst="roundRect">
            <a:avLst>
              <a:gd name="adj" fmla="val 44444"/>
            </a:avLst>
          </a:prstGeom>
          <a:solidFill>
            <a:srgbClr val="126E82"/>
          </a:solidFill>
          <a:ln w="12700">
            <a:solidFill>
              <a:srgbClr val="126E8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601200" y="411480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強調表示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" y="5120640"/>
            <a:ext cx="11091672" cy="777240"/>
          </a:xfrm>
          <a:prstGeom prst="rect">
            <a:avLst/>
          </a:prstGeom>
          <a:solidFill>
            <a:srgbClr val="E6F2F5"/>
          </a:solidFill>
          <a:ln w="12700">
            <a:solidFill>
              <a:srgbClr val="E6F2F5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77240" y="5212080"/>
            <a:ext cx="822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26E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入力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1554480" y="5212080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D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研修テーマ・対象者・時間・学習内容・デザインイメージ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6446520" y="5212080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4A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9" name="Text 27"/>
          <p:cNvSpPr txBox="1"/>
          <p:nvPr/>
        </p:nvSpPr>
        <p:spPr>
          <a:xfrm>
            <a:off x="6949440" y="5212080"/>
            <a:ext cx="822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26E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成果物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7772400" y="521208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A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PowerPointファイル（.pptx）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 eラーニングコンテンツ制作マニュアル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1118311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417320" cy="502920"/>
          </a:xfrm>
          <a:prstGeom prst="roundRect">
            <a:avLst>
              <a:gd name="adj" fmla="val 50909"/>
            </a:avLst>
          </a:prstGeom>
          <a:solidFill>
            <a:srgbClr val="0B2A3C"/>
          </a:solidFill>
          <a:ln w="12700">
            <a:solidFill>
              <a:srgbClr val="0B2A3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STEP 2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2148840" y="384048"/>
            <a:ext cx="94914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A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Claudeでナレーション台本を作成する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2148840" y="987552"/>
            <a:ext cx="9491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C6B7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完成したスライドをClaudeに読み込ませ、スライドごとに講師が話しているような台本を作ります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4754880" cy="3200400"/>
          </a:xfrm>
          <a:prstGeom prst="roundRect">
            <a:avLst>
              <a:gd name="adj" fmla="val 3429"/>
            </a:avLst>
          </a:prstGeom>
          <a:solidFill>
            <a:srgbClr val="F3F8FA"/>
          </a:solidFill>
          <a:ln w="12700">
            <a:solidFill>
              <a:srgbClr val="F3F8F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81051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6E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台本に含めるもの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212848"/>
            <a:ext cx="42976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F2D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スライドに書いてある内容の補足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F2D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具体例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F2D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話し言葉への変換（読み上げ文ではなく説明口調）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F2D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次のスライドへのつなぎ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F2D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スライド番号ごとに区切る（後工程がスムーズに）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577840" y="1645920"/>
            <a:ext cx="6035040" cy="3200400"/>
          </a:xfrm>
          <a:prstGeom prst="roundRect">
            <a:avLst>
              <a:gd name="adj" fmla="val 4286"/>
            </a:avLst>
          </a:prstGeom>
          <a:solidFill>
            <a:srgbClr val="E6F2F5"/>
          </a:solidFill>
          <a:ln w="12700">
            <a:solidFill>
              <a:srgbClr val="E6F2F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852160" y="181051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6E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台本の構成例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852160" y="2240280"/>
            <a:ext cx="54864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B2A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スライド1</a:t>
            </a:r>
            <a:endParaRPr lang="en-US" sz="125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1F2D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「それではここから、生成AIの基本について説明していきます。まず最初に理解していただきたいのが、生成AIと従来のAIの違いです。」</a:t>
            </a:r>
            <a:endParaRPr lang="en-US" sz="1250" dirty="0"/>
          </a:p>
          <a:p>
            <a:pPr marL="0" indent="0">
              <a:buNone/>
            </a:pPr>
            <a:r>
              <a:rPr lang="en-US" sz="1250" b="1" dirty="0">
                <a:solidFill>
                  <a:srgbClr val="0B2A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スライド2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F2D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「従来のAIは、あらかじめ決められたルールをもとに判断することが中心でした。一方で生成AIは……」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5120640"/>
            <a:ext cx="11091672" cy="777240"/>
          </a:xfrm>
          <a:prstGeom prst="rect">
            <a:avLst/>
          </a:prstGeom>
          <a:solidFill>
            <a:srgbClr val="E6F2F5"/>
          </a:solidFill>
          <a:ln w="12700">
            <a:solidFill>
              <a:srgbClr val="E6F2F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5212080"/>
            <a:ext cx="822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26E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入力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554480" y="5212080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D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STEP 1で作成したPowerPoint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6446520" y="5212080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4A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6949440" y="5212080"/>
            <a:ext cx="822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26E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成果物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7772400" y="521208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A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スライドごとのナレーション台本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 eラーニングコンテンツ制作マニュアル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118311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417320" cy="502920"/>
          </a:xfrm>
          <a:prstGeom prst="roundRect">
            <a:avLst>
              <a:gd name="adj" fmla="val 50909"/>
            </a:avLst>
          </a:prstGeom>
          <a:solidFill>
            <a:srgbClr val="0B2A3C"/>
          </a:solidFill>
          <a:ln w="12700">
            <a:solidFill>
              <a:srgbClr val="0B2A3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STEP 3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2148840" y="384048"/>
            <a:ext cx="94914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A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Fish Audioでナレーション音声を作成する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2148840" y="987552"/>
            <a:ext cx="9491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C6B7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台本を入力し、事前登録した自分のPremium Clone Voiceで音声化します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2011680" cy="1097280"/>
          </a:xfrm>
          <a:prstGeom prst="roundRect">
            <a:avLst>
              <a:gd name="adj" fmla="val 10000"/>
            </a:avLst>
          </a:prstGeom>
          <a:solidFill>
            <a:srgbClr val="F3F8FA"/>
          </a:solidFill>
          <a:ln w="12700">
            <a:solidFill>
              <a:srgbClr val="F3F8F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2011680"/>
            <a:ext cx="457200" cy="457200"/>
          </a:xfrm>
          <a:prstGeom prst="ellipse">
            <a:avLst/>
          </a:prstGeom>
          <a:solidFill>
            <a:srgbClr val="F4A259"/>
          </a:solidFill>
          <a:ln w="12700">
            <a:solidFill>
              <a:srgbClr val="F4A25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1691640"/>
            <a:ext cx="1234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A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台本をFish Audioに入力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2788920" y="1691640"/>
            <a:ext cx="2011680" cy="1097280"/>
          </a:xfrm>
          <a:prstGeom prst="roundRect">
            <a:avLst>
              <a:gd name="adj" fmla="val 10000"/>
            </a:avLst>
          </a:prstGeom>
          <a:solidFill>
            <a:srgbClr val="F3F8FA"/>
          </a:solidFill>
          <a:ln w="12700">
            <a:solidFill>
              <a:srgbClr val="F3F8F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26080" y="2011680"/>
            <a:ext cx="457200" cy="457200"/>
          </a:xfrm>
          <a:prstGeom prst="ellipse">
            <a:avLst/>
          </a:prstGeom>
          <a:solidFill>
            <a:srgbClr val="F4A259"/>
          </a:solidFill>
          <a:ln w="12700">
            <a:solidFill>
              <a:srgbClr val="F4A25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92608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474720" y="1691640"/>
            <a:ext cx="1234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A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自分のClone Voiceを選択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029200" y="1691640"/>
            <a:ext cx="2011680" cy="1097280"/>
          </a:xfrm>
          <a:prstGeom prst="roundRect">
            <a:avLst>
              <a:gd name="adj" fmla="val 10000"/>
            </a:avLst>
          </a:prstGeom>
          <a:solidFill>
            <a:srgbClr val="F3F8FA"/>
          </a:solidFill>
          <a:ln w="12700">
            <a:solidFill>
              <a:srgbClr val="F3F8F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66360" y="2011680"/>
            <a:ext cx="457200" cy="457200"/>
          </a:xfrm>
          <a:prstGeom prst="ellipse">
            <a:avLst/>
          </a:prstGeom>
          <a:solidFill>
            <a:srgbClr val="F4A259"/>
          </a:solidFill>
          <a:ln w="12700">
            <a:solidFill>
              <a:srgbClr val="F4A25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16636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715000" y="1691640"/>
            <a:ext cx="1234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A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音声を生成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269480" y="1691640"/>
            <a:ext cx="2011680" cy="1097280"/>
          </a:xfrm>
          <a:prstGeom prst="roundRect">
            <a:avLst>
              <a:gd name="adj" fmla="val 10000"/>
            </a:avLst>
          </a:prstGeom>
          <a:solidFill>
            <a:srgbClr val="F3F8FA"/>
          </a:solidFill>
          <a:ln w="12700">
            <a:solidFill>
              <a:srgbClr val="F3F8F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06640" y="2011680"/>
            <a:ext cx="457200" cy="457200"/>
          </a:xfrm>
          <a:prstGeom prst="ellipse">
            <a:avLst/>
          </a:prstGeom>
          <a:solidFill>
            <a:srgbClr val="F4A259"/>
          </a:solidFill>
          <a:ln w="12700">
            <a:solidFill>
              <a:srgbClr val="F4A259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40664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7955280" y="1691640"/>
            <a:ext cx="1234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A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聴いて確認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9509760" y="1691640"/>
            <a:ext cx="2011680" cy="1097280"/>
          </a:xfrm>
          <a:prstGeom prst="roundRect">
            <a:avLst>
              <a:gd name="adj" fmla="val 10000"/>
            </a:avLst>
          </a:prstGeom>
          <a:solidFill>
            <a:srgbClr val="F3F8FA"/>
          </a:solidFill>
          <a:ln w="12700">
            <a:solidFill>
              <a:srgbClr val="F3F8F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646920" y="2011680"/>
            <a:ext cx="457200" cy="457200"/>
          </a:xfrm>
          <a:prstGeom prst="ellipse">
            <a:avLst/>
          </a:prstGeom>
          <a:solidFill>
            <a:srgbClr val="F4A259"/>
          </a:solidFill>
          <a:ln w="12700">
            <a:solidFill>
              <a:srgbClr val="F4A259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64692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10195560" y="1691640"/>
            <a:ext cx="1234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A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音声ファイルとして保存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548640" y="3063240"/>
            <a:ext cx="6583680" cy="1828800"/>
          </a:xfrm>
          <a:prstGeom prst="roundRect">
            <a:avLst>
              <a:gd name="adj" fmla="val 6000"/>
            </a:avLst>
          </a:prstGeom>
          <a:solidFill>
            <a:srgbClr val="F3F8FA"/>
          </a:solidFill>
          <a:ln w="12700">
            <a:solidFill>
              <a:srgbClr val="F3F8F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77240" y="3227832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6E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確認して問題があれば、台本や設定を調整して再生成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777240" y="3630168"/>
            <a:ext cx="6126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D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読み間違い（漢字・固有名詞・数字）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D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不自然なイントネーション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D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間の取り方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D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読み上げ速度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406640" y="3063240"/>
            <a:ext cx="4206240" cy="1828800"/>
          </a:xfrm>
          <a:prstGeom prst="roundRect">
            <a:avLst>
              <a:gd name="adj" fmla="val 6000"/>
            </a:avLst>
          </a:prstGeom>
          <a:solidFill>
            <a:srgbClr val="E6F2F5"/>
          </a:solidFill>
          <a:ln w="12700">
            <a:solidFill>
              <a:srgbClr val="E6F2F5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635240" y="3200400"/>
            <a:ext cx="3749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4A25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コツ　</a:t>
            </a:r>
            <a:r>
              <a:rPr lang="en-US" sz="1200" dirty="0">
                <a:solidFill>
                  <a:srgbClr val="1F2D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読み間違いは台本側の表記を直すのが早い（例：漢字をひらがなに、数字を読み仮名に）。スライド単位で音声を分けて保存しておくと、後の合成で切り替えタイミングを合わせやすい。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48640" y="5120640"/>
            <a:ext cx="11091672" cy="777240"/>
          </a:xfrm>
          <a:prstGeom prst="rect">
            <a:avLst/>
          </a:prstGeom>
          <a:solidFill>
            <a:srgbClr val="E6F2F5"/>
          </a:solidFill>
          <a:ln w="12700">
            <a:solidFill>
              <a:srgbClr val="E6F2F5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77240" y="5212080"/>
            <a:ext cx="822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26E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入力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1554480" y="5212080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D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ナレーション台本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6446520" y="5212080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4A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35" name="Text 33"/>
          <p:cNvSpPr txBox="1"/>
          <p:nvPr/>
        </p:nvSpPr>
        <p:spPr>
          <a:xfrm>
            <a:off x="6949440" y="5212080"/>
            <a:ext cx="822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26E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成果物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7772400" y="521208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A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ナレーション音声ファイル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 eラーニングコンテンツ制作マニュアル</a:t>
            </a:r>
            <a:endParaRPr lang="en-US" sz="900" dirty="0"/>
          </a:p>
        </p:txBody>
      </p:sp>
      <p:sp>
        <p:nvSpPr>
          <p:cNvPr id="38" name="Text 36"/>
          <p:cNvSpPr txBox="1"/>
          <p:nvPr/>
        </p:nvSpPr>
        <p:spPr>
          <a:xfrm>
            <a:off x="1118311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417320" cy="502920"/>
          </a:xfrm>
          <a:prstGeom prst="roundRect">
            <a:avLst>
              <a:gd name="adj" fmla="val 50909"/>
            </a:avLst>
          </a:prstGeom>
          <a:solidFill>
            <a:srgbClr val="0B2A3C"/>
          </a:solidFill>
          <a:ln w="12700">
            <a:solidFill>
              <a:srgbClr val="0B2A3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STEP 4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2148840" y="384048"/>
            <a:ext cx="94914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A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HeyGenで自分のアバター動画を作成する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2148840" y="987552"/>
            <a:ext cx="9491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C6B7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写真と音声をリップシンクさせ、講師本人が話しているように見える動画を作ります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2926080" cy="1005840"/>
          </a:xfrm>
          <a:prstGeom prst="roundRect">
            <a:avLst>
              <a:gd name="adj" fmla="val 10909"/>
            </a:avLst>
          </a:prstGeom>
          <a:solidFill>
            <a:srgbClr val="F3F8FA"/>
          </a:solidFill>
          <a:ln w="12700">
            <a:solidFill>
              <a:srgbClr val="F3F8F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73736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2A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自分の写真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2971800"/>
            <a:ext cx="2926080" cy="1005840"/>
          </a:xfrm>
          <a:prstGeom prst="roundRect">
            <a:avLst>
              <a:gd name="adj" fmla="val 10909"/>
            </a:avLst>
          </a:prstGeom>
          <a:solidFill>
            <a:srgbClr val="F3F8FA"/>
          </a:solidFill>
          <a:ln w="12700">
            <a:solidFill>
              <a:srgbClr val="F3F8F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297180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2A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Fish Audioの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0B2A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ナレーション音声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3566160" y="2560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4A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4206240" y="1737360"/>
            <a:ext cx="3108960" cy="2240280"/>
          </a:xfrm>
          <a:prstGeom prst="roundRect">
            <a:avLst>
              <a:gd name="adj" fmla="val 6122"/>
            </a:avLst>
          </a:prstGeom>
          <a:solidFill>
            <a:srgbClr val="0B2A3C"/>
          </a:solidFill>
          <a:ln w="12700">
            <a:solidFill>
              <a:srgbClr val="0B2A3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206240" y="21945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HeyGen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4206240" y="288036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B9DCE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写真＋音声をアップロード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B9DCE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リップシンク生成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7406640" y="2560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4A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8046720" y="1737360"/>
            <a:ext cx="3566160" cy="2240280"/>
          </a:xfrm>
          <a:prstGeom prst="roundRect">
            <a:avLst>
              <a:gd name="adj" fmla="val 6122"/>
            </a:avLst>
          </a:prstGeom>
          <a:solidFill>
            <a:srgbClr val="F4A259"/>
          </a:solidFill>
          <a:ln w="12700">
            <a:solidFill>
              <a:srgbClr val="F4A25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046720" y="1737360"/>
            <a:ext cx="356616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リップシンク済み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アバター動画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548640" y="4297680"/>
            <a:ext cx="5486400" cy="1554480"/>
          </a:xfrm>
          <a:prstGeom prst="roundRect">
            <a:avLst>
              <a:gd name="adj" fmla="val 7059"/>
            </a:avLst>
          </a:prstGeom>
          <a:solidFill>
            <a:srgbClr val="F3F8FA"/>
          </a:solidFill>
          <a:ln w="12700">
            <a:solidFill>
              <a:srgbClr val="F3F8F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7240" y="446227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6E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完成した動画を確認する項目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777240" y="4864608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D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口の動きが音声と合っているか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D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表情が不自然でないか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309360" y="4297680"/>
            <a:ext cx="5303520" cy="1554480"/>
          </a:xfrm>
          <a:prstGeom prst="roundRect">
            <a:avLst>
              <a:gd name="adj" fmla="val 7059"/>
            </a:avLst>
          </a:prstGeom>
          <a:solidFill>
            <a:srgbClr val="F3F8FA"/>
          </a:solidFill>
          <a:ln w="12700">
            <a:solidFill>
              <a:srgbClr val="F3F8F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537960" y="446227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6E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問題なければ動画ファイルとして保存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537960" y="4864608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D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顔に違和感（歪み・ちらつき）がないか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D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音声との同期がずれていないか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 eラーニングコンテンツ制作マニュアル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1118311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417320" cy="502920"/>
          </a:xfrm>
          <a:prstGeom prst="roundRect">
            <a:avLst>
              <a:gd name="adj" fmla="val 50909"/>
            </a:avLst>
          </a:prstGeom>
          <a:solidFill>
            <a:srgbClr val="0B2A3C"/>
          </a:solidFill>
          <a:ln w="12700">
            <a:solidFill>
              <a:srgbClr val="0B2A3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STEP 5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2148840" y="384048"/>
            <a:ext cx="94914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A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Claudeで動画素材を合成する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2148840" y="987552"/>
            <a:ext cx="9491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C6B7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ここまでで揃った3つの素材と台本をClaudeに渡し、1本のeラーニング動画に合成します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2606040" cy="1554480"/>
          </a:xfrm>
          <a:prstGeom prst="roundRect">
            <a:avLst>
              <a:gd name="adj" fmla="val 7059"/>
            </a:avLst>
          </a:prstGeom>
          <a:solidFill>
            <a:srgbClr val="F3F8FA"/>
          </a:solidFill>
          <a:ln w="12700">
            <a:solidFill>
              <a:srgbClr val="F3F8F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920240"/>
            <a:ext cx="502920" cy="502920"/>
          </a:xfrm>
          <a:prstGeom prst="ellipse">
            <a:avLst/>
          </a:prstGeom>
          <a:solidFill>
            <a:srgbClr val="126E82"/>
          </a:solidFill>
          <a:ln w="12700">
            <a:solidFill>
              <a:srgbClr val="126E8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192024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A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PowerPoint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25603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F2D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研修内容を説明するスライド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383280" y="1691640"/>
            <a:ext cx="2606040" cy="1554480"/>
          </a:xfrm>
          <a:prstGeom prst="roundRect">
            <a:avLst>
              <a:gd name="adj" fmla="val 7059"/>
            </a:avLst>
          </a:prstGeom>
          <a:solidFill>
            <a:srgbClr val="F3F8FA"/>
          </a:solidFill>
          <a:ln w="12700">
            <a:solidFill>
              <a:srgbClr val="F3F8F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566160" y="1920240"/>
            <a:ext cx="502920" cy="502920"/>
          </a:xfrm>
          <a:prstGeom prst="ellipse">
            <a:avLst/>
          </a:prstGeom>
          <a:solidFill>
            <a:srgbClr val="F4A259"/>
          </a:solidFill>
          <a:ln w="12700">
            <a:solidFill>
              <a:srgbClr val="F4A25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56616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160520" y="192024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A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Fish Audio音声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3566160" y="25603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F2D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自分の声を再現したナレーション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17920" y="1691640"/>
            <a:ext cx="2606040" cy="1554480"/>
          </a:xfrm>
          <a:prstGeom prst="roundRect">
            <a:avLst>
              <a:gd name="adj" fmla="val 7059"/>
            </a:avLst>
          </a:prstGeom>
          <a:solidFill>
            <a:srgbClr val="F3F8FA"/>
          </a:solidFill>
          <a:ln w="12700">
            <a:solidFill>
              <a:srgbClr val="F3F8F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0" y="1920240"/>
            <a:ext cx="502920" cy="502920"/>
          </a:xfrm>
          <a:prstGeom prst="ellipse">
            <a:avLst/>
          </a:prstGeom>
          <a:solidFill>
            <a:srgbClr val="0B2A3C"/>
          </a:solidFill>
          <a:ln w="12700">
            <a:solidFill>
              <a:srgbClr val="0B2A3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0080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③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995160" y="192024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A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HeyGen動画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0" y="25603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F2D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ナレーションに合わせて話すアバター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9052560" y="1691640"/>
            <a:ext cx="2606040" cy="1554480"/>
          </a:xfrm>
          <a:prstGeom prst="roundRect">
            <a:avLst>
              <a:gd name="adj" fmla="val 7059"/>
            </a:avLst>
          </a:prstGeom>
          <a:solidFill>
            <a:srgbClr val="F3F8FA"/>
          </a:solidFill>
          <a:ln w="12700">
            <a:solidFill>
              <a:srgbClr val="F3F8F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235440" y="1920240"/>
            <a:ext cx="502920" cy="502920"/>
          </a:xfrm>
          <a:prstGeom prst="ellipse">
            <a:avLst/>
          </a:prstGeom>
          <a:solidFill>
            <a:srgbClr val="5C6B74"/>
          </a:solidFill>
          <a:ln w="12700">
            <a:solidFill>
              <a:srgbClr val="5C6B7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23544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＋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9829800" y="192024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A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ナレーション台本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9235440" y="25603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F2D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テロップの元データ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5728716" y="333756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4A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548640" y="3840480"/>
            <a:ext cx="11091672" cy="2011680"/>
          </a:xfrm>
          <a:prstGeom prst="roundRect">
            <a:avLst>
              <a:gd name="adj" fmla="val 6818"/>
            </a:avLst>
          </a:prstGeom>
          <a:solidFill>
            <a:srgbClr val="0B2A3C"/>
          </a:solidFill>
          <a:ln w="12700">
            <a:solidFill>
              <a:srgbClr val="0B2A3C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22960" y="402336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Claudeに合成を依頼する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822960" y="4480560"/>
            <a:ext cx="1054303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250" dirty="0">
                <a:solidFill>
                  <a:srgbClr val="B9DCE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Claudeのコード実行（ffmpegなど）で、スライド画像＋音声＋アバター＋テロップを1本のMP4に合成します。</a:t>
            </a:r>
            <a:endParaRPr lang="en-US" sz="12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50" dirty="0">
                <a:solidFill>
                  <a:srgbClr val="B9DCE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依頼時に伝えること：レイアウト（次ページ）、スライドの切り替えタイミング＝各音声の長さ、テロップの分割ルール、出力形式（MP4・解像度）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B9DCE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うまく合成できない場合は、スライド単位の音声ファイルとPowerPointを画像書き出ししたものを渡すと安定します。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 eラーニングコンテンツ制作マニュアル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1118311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417320" cy="502920"/>
          </a:xfrm>
          <a:prstGeom prst="roundRect">
            <a:avLst>
              <a:gd name="adj" fmla="val 50909"/>
            </a:avLst>
          </a:prstGeom>
          <a:solidFill>
            <a:srgbClr val="0B2A3C"/>
          </a:solidFill>
          <a:ln w="12700">
            <a:solidFill>
              <a:srgbClr val="0B2A3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STEP 6-7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2148840" y="384048"/>
            <a:ext cx="94914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A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レイアウト：右上ワイプ ＋ 下部テロップ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2148840" y="987552"/>
            <a:ext cx="9491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C6B7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「スライドを見ながら講師の説明を聞いている」eラーニングらしい画面にします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5852160" cy="3291840"/>
          </a:xfrm>
          <a:prstGeom prst="rect">
            <a:avLst/>
          </a:prstGeom>
          <a:solidFill>
            <a:srgbClr val="F3F8FA"/>
          </a:solidFill>
          <a:ln w="19050">
            <a:solidFill>
              <a:srgbClr val="B9DCE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78892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A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PowerPoint スライド（メイン画面）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663440" y="1874520"/>
            <a:ext cx="1554480" cy="1097280"/>
          </a:xfrm>
          <a:prstGeom prst="roundRect">
            <a:avLst>
              <a:gd name="adj" fmla="val 6667"/>
            </a:avLst>
          </a:prstGeom>
          <a:solidFill>
            <a:srgbClr val="F4A259"/>
          </a:solidFill>
          <a:ln w="12700">
            <a:solidFill>
              <a:srgbClr val="F4A25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663440" y="1874520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講師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アバター動画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4297680"/>
            <a:ext cx="5486400" cy="502920"/>
          </a:xfrm>
          <a:prstGeom prst="rect">
            <a:avLst/>
          </a:prstGeom>
          <a:solidFill>
            <a:srgbClr val="0B2A3C"/>
          </a:solidFill>
          <a:ln w="12700">
            <a:solidFill>
              <a:srgbClr val="0B2A3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429768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ナレーションテロップ（1〜2行）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675120" y="1691640"/>
            <a:ext cx="4937760" cy="1554480"/>
          </a:xfrm>
          <a:prstGeom prst="roundRect">
            <a:avLst>
              <a:gd name="adj" fmla="val 7059"/>
            </a:avLst>
          </a:prstGeom>
          <a:solidFill>
            <a:srgbClr val="F3F8FA"/>
          </a:solidFill>
          <a:ln w="12700">
            <a:solidFill>
              <a:srgbClr val="F3F8F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903720" y="185623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6E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STEP 6｜ワイプ（右上）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903720" y="2258568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2D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HeyGenのアバター動画をテレビのワイプのように右上に配置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2D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スライドの重要部分を隠さない位置・サイズにする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675120" y="3429000"/>
            <a:ext cx="4937760" cy="2423160"/>
          </a:xfrm>
          <a:prstGeom prst="roundRect">
            <a:avLst>
              <a:gd name="adj" fmla="val 4528"/>
            </a:avLst>
          </a:prstGeom>
          <a:solidFill>
            <a:srgbClr val="F3F8FA"/>
          </a:solidFill>
          <a:ln w="12700">
            <a:solidFill>
              <a:srgbClr val="F3F8F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903720" y="359359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6E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STEP 7｜テロップ（下部）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903720" y="3995928"/>
            <a:ext cx="44805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2D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1画面あたり1〜2行、長文を表示しない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2D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ナレーションと表示タイミングを合わせる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2D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スライドの重要部分を隠さない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2D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読みやすい文字サイズにする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 eラーニングコンテンツ制作マニュアル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118311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417320" cy="502920"/>
          </a:xfrm>
          <a:prstGeom prst="roundRect">
            <a:avLst>
              <a:gd name="adj" fmla="val 50909"/>
            </a:avLst>
          </a:prstGeom>
          <a:solidFill>
            <a:srgbClr val="0B2A3C"/>
          </a:solidFill>
          <a:ln w="12700">
            <a:solidFill>
              <a:srgbClr val="0B2A3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STEP 8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2148840" y="384048"/>
            <a:ext cx="94914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A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最終確認と動画の書き出し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2148840" y="987552"/>
            <a:ext cx="9491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C6B7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全項目をチェックして問題なければMP4形式で書き出します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3566160" cy="1417320"/>
          </a:xfrm>
          <a:prstGeom prst="roundRect">
            <a:avLst>
              <a:gd name="adj" fmla="val 7742"/>
            </a:avLst>
          </a:prstGeom>
          <a:solidFill>
            <a:srgbClr val="F3F8FA"/>
          </a:solidFill>
          <a:ln w="12700">
            <a:solidFill>
              <a:srgbClr val="F3F8F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920240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25400">
            <a:solidFill>
              <a:srgbClr val="126E8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1920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26E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18745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A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内容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24231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D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スライドとナレーションの内容が一致しているか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89120" y="1645920"/>
            <a:ext cx="3566160" cy="1417320"/>
          </a:xfrm>
          <a:prstGeom prst="roundRect">
            <a:avLst>
              <a:gd name="adj" fmla="val 7742"/>
            </a:avLst>
          </a:prstGeom>
          <a:solidFill>
            <a:srgbClr val="F3F8FA"/>
          </a:solidFill>
          <a:ln w="12700">
            <a:solidFill>
              <a:srgbClr val="F3F8F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17720" y="1920240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25400">
            <a:solidFill>
              <a:srgbClr val="126E8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617720" y="1920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26E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5166360" y="18745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A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タイミング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617720" y="24231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D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スライドの切り替えタイミングが適切か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229600" y="1645920"/>
            <a:ext cx="3566160" cy="1417320"/>
          </a:xfrm>
          <a:prstGeom prst="roundRect">
            <a:avLst>
              <a:gd name="adj" fmla="val 7742"/>
            </a:avLst>
          </a:prstGeom>
          <a:solidFill>
            <a:srgbClr val="F3F8FA"/>
          </a:solidFill>
          <a:ln w="12700">
            <a:solidFill>
              <a:srgbClr val="F3F8F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58200" y="1920240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25400">
            <a:solidFill>
              <a:srgbClr val="126E8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458200" y="1920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26E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9006840" y="18745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A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音声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8458200" y="24231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D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読み間違いがないか／音量が適切か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3337560"/>
            <a:ext cx="3566160" cy="1417320"/>
          </a:xfrm>
          <a:prstGeom prst="roundRect">
            <a:avLst>
              <a:gd name="adj" fmla="val 7742"/>
            </a:avLst>
          </a:prstGeom>
          <a:solidFill>
            <a:srgbClr val="F3F8FA"/>
          </a:solidFill>
          <a:ln w="12700">
            <a:solidFill>
              <a:srgbClr val="F3F8F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77240" y="3611880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25400">
            <a:solidFill>
              <a:srgbClr val="126E8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77240" y="3611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26E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1325880" y="356616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A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アバター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777240" y="41148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D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音声と正しくリップシンクしているか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389120" y="3337560"/>
            <a:ext cx="3566160" cy="1417320"/>
          </a:xfrm>
          <a:prstGeom prst="roundRect">
            <a:avLst>
              <a:gd name="adj" fmla="val 7742"/>
            </a:avLst>
          </a:prstGeom>
          <a:solidFill>
            <a:srgbClr val="F3F8FA"/>
          </a:solidFill>
          <a:ln w="12700">
            <a:solidFill>
              <a:srgbClr val="F3F8F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17720" y="3611880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25400">
            <a:solidFill>
              <a:srgbClr val="126E8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617720" y="3611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26E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5166360" y="356616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A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ワイプ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4617720" y="41148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D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スライドの重要部分を隠していないか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229600" y="3337560"/>
            <a:ext cx="3566160" cy="1417320"/>
          </a:xfrm>
          <a:prstGeom prst="roundRect">
            <a:avLst>
              <a:gd name="adj" fmla="val 7742"/>
            </a:avLst>
          </a:prstGeom>
          <a:solidFill>
            <a:srgbClr val="F3F8FA"/>
          </a:solidFill>
          <a:ln w="12700">
            <a:solidFill>
              <a:srgbClr val="F3F8F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458200" y="3611880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25400">
            <a:solidFill>
              <a:srgbClr val="126E82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458200" y="3611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26E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34" name="Text 32"/>
          <p:cNvSpPr txBox="1"/>
          <p:nvPr/>
        </p:nvSpPr>
        <p:spPr>
          <a:xfrm>
            <a:off x="9006840" y="356616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A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テロップ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8458200" y="41148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D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音声と合っているか／誤字脱字がないか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548640" y="5120640"/>
            <a:ext cx="11091672" cy="777240"/>
          </a:xfrm>
          <a:prstGeom prst="roundRect">
            <a:avLst>
              <a:gd name="adj" fmla="val 14118"/>
            </a:avLst>
          </a:prstGeom>
          <a:solidFill>
            <a:srgbClr val="0B2A3C"/>
          </a:solidFill>
          <a:ln w="12700">
            <a:solidFill>
              <a:srgbClr val="0B2A3C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822960" y="521208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25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書き出し　</a:t>
            </a:r>
            <a:r>
              <a:rPr lang="en-US" sz="13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問題がなければMP4形式で書き出し。配信先（LMS・YouTube限定公開など）に合わせて解像度を決めてから書き出すこと。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 eラーニングコンテンツ制作マニュアル</a:t>
            </a:r>
            <a:endParaRPr lang="en-US" sz="900" dirty="0"/>
          </a:p>
        </p:txBody>
      </p:sp>
      <p:sp>
        <p:nvSpPr>
          <p:cNvPr id="39" name="Text 37"/>
          <p:cNvSpPr txBox="1"/>
          <p:nvPr/>
        </p:nvSpPr>
        <p:spPr>
          <a:xfrm>
            <a:off x="1118311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A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完成までのデータの流れ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C6B7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どの素材がどのツールに入って何が出てくるか、全体像で確認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057400" cy="777240"/>
          </a:xfrm>
          <a:prstGeom prst="roundRect">
            <a:avLst>
              <a:gd name="adj" fmla="val 11765"/>
            </a:avLst>
          </a:prstGeom>
          <a:solidFill>
            <a:srgbClr val="5C6B74"/>
          </a:solidFill>
          <a:ln w="12700">
            <a:solidFill>
              <a:srgbClr val="5C6B7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645920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研修テーマ・内容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2606040" y="1645920"/>
            <a:ext cx="2194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4A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825496" y="1645920"/>
            <a:ext cx="2057400" cy="777240"/>
          </a:xfrm>
          <a:prstGeom prst="roundRect">
            <a:avLst>
              <a:gd name="adj" fmla="val 11765"/>
            </a:avLst>
          </a:prstGeom>
          <a:solidFill>
            <a:srgbClr val="126E82"/>
          </a:solidFill>
          <a:ln w="12700">
            <a:solidFill>
              <a:srgbClr val="126E8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825496" y="1645920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Claude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882896" y="1645920"/>
            <a:ext cx="2194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4A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102352" y="1645920"/>
            <a:ext cx="2057400" cy="777240"/>
          </a:xfrm>
          <a:prstGeom prst="roundRect">
            <a:avLst>
              <a:gd name="adj" fmla="val 11765"/>
            </a:avLst>
          </a:prstGeom>
          <a:solidFill>
            <a:srgbClr val="F3F8FA"/>
          </a:solidFill>
          <a:ln w="12700">
            <a:solidFill>
              <a:srgbClr val="F3F8F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102352" y="1645920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A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PowerPoint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7159752" y="1645920"/>
            <a:ext cx="2194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4A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79208" y="1645920"/>
            <a:ext cx="2057400" cy="777240"/>
          </a:xfrm>
          <a:prstGeom prst="roundRect">
            <a:avLst>
              <a:gd name="adj" fmla="val 11765"/>
            </a:avLst>
          </a:prstGeom>
          <a:solidFill>
            <a:srgbClr val="126E82"/>
          </a:solidFill>
          <a:ln w="12700">
            <a:solidFill>
              <a:srgbClr val="126E8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79208" y="1645920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Claude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9436608" y="1645920"/>
            <a:ext cx="2194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4A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656064" y="1645920"/>
            <a:ext cx="2057400" cy="777240"/>
          </a:xfrm>
          <a:prstGeom prst="roundRect">
            <a:avLst>
              <a:gd name="adj" fmla="val 11765"/>
            </a:avLst>
          </a:prstGeom>
          <a:solidFill>
            <a:srgbClr val="F3F8FA"/>
          </a:solidFill>
          <a:ln w="12700">
            <a:solidFill>
              <a:srgbClr val="F3F8F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656064" y="1645920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A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ナレーション台本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2788920"/>
            <a:ext cx="2057400" cy="777240"/>
          </a:xfrm>
          <a:prstGeom prst="roundRect">
            <a:avLst>
              <a:gd name="adj" fmla="val 11765"/>
            </a:avLst>
          </a:prstGeom>
          <a:solidFill>
            <a:srgbClr val="F4A259"/>
          </a:solidFill>
          <a:ln w="12700">
            <a:solidFill>
              <a:srgbClr val="F4A25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8640" y="2788920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Fish Audio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2606040" y="2788920"/>
            <a:ext cx="2194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4A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825496" y="2788920"/>
            <a:ext cx="2057400" cy="777240"/>
          </a:xfrm>
          <a:prstGeom prst="roundRect">
            <a:avLst>
              <a:gd name="adj" fmla="val 11765"/>
            </a:avLst>
          </a:prstGeom>
          <a:solidFill>
            <a:srgbClr val="F3F8FA"/>
          </a:solidFill>
          <a:ln w="12700">
            <a:solidFill>
              <a:srgbClr val="F3F8F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2825496" y="2788920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A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AIナレーション音声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4882896" y="2788920"/>
            <a:ext cx="2194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4A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102352" y="2788920"/>
            <a:ext cx="2057400" cy="777240"/>
          </a:xfrm>
          <a:prstGeom prst="roundRect">
            <a:avLst>
              <a:gd name="adj" fmla="val 11765"/>
            </a:avLst>
          </a:prstGeom>
          <a:solidFill>
            <a:srgbClr val="0B2A3C"/>
          </a:solidFill>
          <a:ln w="12700">
            <a:solidFill>
              <a:srgbClr val="0B2A3C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102352" y="2788920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HeyGen ＋ 自分の写真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7159752" y="2788920"/>
            <a:ext cx="2194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4A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379208" y="2788920"/>
            <a:ext cx="2057400" cy="777240"/>
          </a:xfrm>
          <a:prstGeom prst="roundRect">
            <a:avLst>
              <a:gd name="adj" fmla="val 11765"/>
            </a:avLst>
          </a:prstGeom>
          <a:solidFill>
            <a:srgbClr val="F3F8FA"/>
          </a:solidFill>
          <a:ln w="12700">
            <a:solidFill>
              <a:srgbClr val="F3F8FA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379208" y="2788920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A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リップシンク動画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245059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B7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台本を Fish Audio へ ↓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5728716" y="37033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4A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548640" y="4160520"/>
            <a:ext cx="5120640" cy="1463040"/>
          </a:xfrm>
          <a:prstGeom prst="roundRect">
            <a:avLst>
              <a:gd name="adj" fmla="val 7500"/>
            </a:avLst>
          </a:prstGeom>
          <a:solidFill>
            <a:srgbClr val="E6F2F5"/>
          </a:solidFill>
          <a:ln w="12700">
            <a:solidFill>
              <a:srgbClr val="E6F2F5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31520" y="4160520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2A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PowerPoint ＋ Fish Audio音声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B2A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＋ HeyGen動画 ＋ ナレーション台本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5760720" y="4160520"/>
            <a:ext cx="457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4A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34" name="Shape 32"/>
          <p:cNvSpPr/>
          <p:nvPr/>
        </p:nvSpPr>
        <p:spPr>
          <a:xfrm>
            <a:off x="6309360" y="4160520"/>
            <a:ext cx="2377440" cy="1463040"/>
          </a:xfrm>
          <a:prstGeom prst="roundRect">
            <a:avLst>
              <a:gd name="adj" fmla="val 7500"/>
            </a:avLst>
          </a:prstGeom>
          <a:solidFill>
            <a:srgbClr val="126E82"/>
          </a:solidFill>
          <a:ln w="12700">
            <a:solidFill>
              <a:srgbClr val="126E82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309360" y="416052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Claudeで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動画合成</a:t>
            </a:r>
            <a:endParaRPr lang="en-US" sz="1500" dirty="0"/>
          </a:p>
        </p:txBody>
      </p:sp>
      <p:sp>
        <p:nvSpPr>
          <p:cNvPr id="36" name="Text 34"/>
          <p:cNvSpPr txBox="1"/>
          <p:nvPr/>
        </p:nvSpPr>
        <p:spPr>
          <a:xfrm>
            <a:off x="8778240" y="4160520"/>
            <a:ext cx="457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4A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37" name="Shape 35"/>
          <p:cNvSpPr/>
          <p:nvPr/>
        </p:nvSpPr>
        <p:spPr>
          <a:xfrm>
            <a:off x="9326880" y="4160520"/>
            <a:ext cx="2286000" cy="1463040"/>
          </a:xfrm>
          <a:prstGeom prst="roundRect">
            <a:avLst>
              <a:gd name="adj" fmla="val 7500"/>
            </a:avLst>
          </a:prstGeom>
          <a:solidFill>
            <a:srgbClr val="F4A259"/>
          </a:solidFill>
          <a:ln w="12700">
            <a:solidFill>
              <a:srgbClr val="F4A259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9326880" y="416052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完成した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eラーニング動画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 eラーニングコンテンツ制作マニュアル</a:t>
            </a:r>
            <a:endParaRPr lang="en-US" sz="900" dirty="0"/>
          </a:p>
        </p:txBody>
      </p:sp>
      <p:sp>
        <p:nvSpPr>
          <p:cNvPr id="40" name="Text 38"/>
          <p:cNvSpPr txBox="1"/>
          <p:nvPr/>
        </p:nvSpPr>
        <p:spPr>
          <a:xfrm>
            <a:off x="1118311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2A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114800"/>
            <a:ext cx="4572000" cy="4572000"/>
          </a:xfrm>
          <a:prstGeom prst="ellipse">
            <a:avLst/>
          </a:prstGeom>
          <a:solidFill>
            <a:srgbClr val="126E82"/>
          </a:solidFill>
          <a:ln w="12700">
            <a:solidFill>
              <a:srgbClr val="126E8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9144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テンプレート化して、量産する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78308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9DCE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この制作フローを固定しておけば、テーマや研修内容を変えても同じ工程で継続的にeラーニングコンテンツを作れます。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2834640"/>
            <a:ext cx="5120640" cy="1325880"/>
          </a:xfrm>
          <a:prstGeom prst="roundRect">
            <a:avLst>
              <a:gd name="adj" fmla="val 8276"/>
            </a:avLst>
          </a:prstGeom>
          <a:solidFill>
            <a:srgbClr val="143C50"/>
          </a:solidFill>
          <a:ln w="12700">
            <a:solidFill>
              <a:srgbClr val="143C5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" y="3218688"/>
            <a:ext cx="548640" cy="548640"/>
          </a:xfrm>
          <a:prstGeom prst="ellipse">
            <a:avLst/>
          </a:prstGeom>
          <a:solidFill>
            <a:srgbClr val="F4A259"/>
          </a:solidFill>
          <a:ln w="12700">
            <a:solidFill>
              <a:srgbClr val="F4A25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60120" y="32186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691640" y="30175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初回だけ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691640" y="3401568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B9DCE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STEP 0の声の登録は一度きり。2本目からはSTEP 1から始める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17920" y="2834640"/>
            <a:ext cx="5120640" cy="1325880"/>
          </a:xfrm>
          <a:prstGeom prst="roundRect">
            <a:avLst>
              <a:gd name="adj" fmla="val 8276"/>
            </a:avLst>
          </a:prstGeom>
          <a:solidFill>
            <a:srgbClr val="143C50"/>
          </a:solidFill>
          <a:ln w="12700">
            <a:solidFill>
              <a:srgbClr val="143C5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46520" y="3218688"/>
            <a:ext cx="548640" cy="548640"/>
          </a:xfrm>
          <a:prstGeom prst="ellipse">
            <a:avLst/>
          </a:prstGeom>
          <a:solidFill>
            <a:srgbClr val="F4A259"/>
          </a:solidFill>
          <a:ln w="12700">
            <a:solidFill>
              <a:srgbClr val="F4A25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46520" y="32186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7178040" y="30175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台本が要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7178040" y="3401568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B9DCE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スライドの読み上げではなく「説明」にする。ここの質が動画の質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31520" y="4389120"/>
            <a:ext cx="5120640" cy="1325880"/>
          </a:xfrm>
          <a:prstGeom prst="roundRect">
            <a:avLst>
              <a:gd name="adj" fmla="val 8276"/>
            </a:avLst>
          </a:prstGeom>
          <a:solidFill>
            <a:srgbClr val="143C50"/>
          </a:solidFill>
          <a:ln w="12700">
            <a:solidFill>
              <a:srgbClr val="143C5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60120" y="4773168"/>
            <a:ext cx="548640" cy="548640"/>
          </a:xfrm>
          <a:prstGeom prst="ellipse">
            <a:avLst/>
          </a:prstGeom>
          <a:solidFill>
            <a:srgbClr val="F4A259"/>
          </a:solidFill>
          <a:ln w="12700">
            <a:solidFill>
              <a:srgbClr val="F4A25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60120" y="47731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691640" y="45720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スライド単位で管理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691640" y="4956048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B9DCE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台本・音声・切り替えをスライド番号で揃えると合成が安定する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217920" y="4389120"/>
            <a:ext cx="5120640" cy="1325880"/>
          </a:xfrm>
          <a:prstGeom prst="roundRect">
            <a:avLst>
              <a:gd name="adj" fmla="val 8276"/>
            </a:avLst>
          </a:prstGeom>
          <a:solidFill>
            <a:srgbClr val="143C50"/>
          </a:solidFill>
          <a:ln w="12700">
            <a:solidFill>
              <a:srgbClr val="143C5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46520" y="4773168"/>
            <a:ext cx="548640" cy="548640"/>
          </a:xfrm>
          <a:prstGeom prst="ellipse">
            <a:avLst/>
          </a:prstGeom>
          <a:solidFill>
            <a:srgbClr val="F4A259"/>
          </a:solidFill>
          <a:ln w="12700">
            <a:solidFill>
              <a:srgbClr val="F4A259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46520" y="47731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7178040" y="45720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必ず最終確認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7178040" y="4956048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B9DCE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STEP 8のチェックリストを飛ばさない。AIの読み間違いは必ず出る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872</Words>
  <Application>Microsoft Macintosh PowerPoint</Application>
  <PresentationFormat>ワイド画面</PresentationFormat>
  <Paragraphs>287</Paragraphs>
  <Slides>13</Slides>
  <Notes>13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13</vt:i4>
      </vt:variant>
    </vt:vector>
  </HeadingPairs>
  <TitlesOfParts>
    <vt:vector size="16" baseType="lpstr">
      <vt:lpstr>Meiryo</vt:lpstr>
      <vt:lpstr>Arial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小中 貴晃（pipon)</cp:lastModifiedBy>
  <cp:revision>1</cp:revision>
  <dcterms:created xsi:type="dcterms:W3CDTF">2026-09-10T09:47:20Z</dcterms:created>
  <dcterms:modified xsi:type="dcterms:W3CDTF">2026-09-10T13:06:49Z</dcterms:modified>
</cp:coreProperties>
</file>
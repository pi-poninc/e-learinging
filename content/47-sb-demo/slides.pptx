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32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032" y="155448"/>
            <a:ext cx="155448" cy="155448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155448"/>
            <a:ext cx="155448" cy="155448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8" y="155448"/>
            <a:ext cx="155448" cy="155448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5720"/>
            <a:ext cx="5486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Obsidian — 第二の脳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57200"/>
            <a:ext cx="3108960" cy="64008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5669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VAULT ／ 第二の脳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9875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00_Inbox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4447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10_Daily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9019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20_Projects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3591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30_Areas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8163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40_Resources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2735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50_PermanentNotes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37307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90_Archive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6120" y="566928"/>
            <a:ext cx="8778240" cy="457200"/>
          </a:xfrm>
          <a:prstGeom prst="roundRect">
            <a:avLst>
              <a:gd name="adj" fmla="val 8000"/>
            </a:avLst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566928"/>
            <a:ext cx="8412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HOME.md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1234440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Second Brain — Home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1920240"/>
            <a:ext cx="8412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読むのは Obsidian、動かすのは AI（Claude Code）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2340864"/>
            <a:ext cx="8412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B7CF6"/>
                </a:solidFill>
                <a:latin typeface="Hiragino Kaku Gothic Pro"/>
                <a:ea typeface="Hiragino Kaku Gothic Pro"/>
                <a:cs typeface="Hiragino Kaku Gothic Pro"/>
              </a:rPr>
              <a:t>今日のクイックアクション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2843784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・ためる → まわす → つなげる → 生かす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3300984"/>
            <a:ext cx="8412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左のフォルダは PARA：Inbox / Daily / Projects / Areas / Resources / PermanentNotes / Archive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32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032" y="155448"/>
            <a:ext cx="155448" cy="155448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155448"/>
            <a:ext cx="155448" cy="155448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8" y="155448"/>
            <a:ext cx="155448" cy="155448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5720"/>
            <a:ext cx="5486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Obsidian — 第二の脳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7315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8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Hiragino Kaku Gothic Pro"/>
                <a:ea typeface="Hiragino Kaku Gothic Pro"/>
                <a:cs typeface="Hiragino Kaku Gothic Pro"/>
              </a:rPr>
              <a:t>STEP 1 ためる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57200"/>
            <a:ext cx="3108960" cy="64008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5669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VAULT ／ 第二の脳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4592" y="960120"/>
            <a:ext cx="2788920" cy="384048"/>
          </a:xfrm>
          <a:prstGeom prst="roundRect">
            <a:avLst>
              <a:gd name="adj" fmla="val 8000"/>
            </a:avLst>
          </a:prstGeom>
          <a:solidFill>
            <a:srgbClr val="2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9875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1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00_Inbox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4447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10_Daily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19019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20_Projects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23591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30_Areas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28163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40_Resources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32735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50_PermanentNotes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37307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90_Archive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6120" y="566928"/>
            <a:ext cx="8778240" cy="457200"/>
          </a:xfrm>
          <a:prstGeom prst="roundRect">
            <a:avLst>
              <a:gd name="adj" fmla="val 8000"/>
            </a:avLst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566928"/>
            <a:ext cx="8412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00_Inbox / 2026-10-10 思いつき.md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1234440"/>
            <a:ext cx="8412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思いついたら、まずここに一行で放り込む（整理はしない）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1655064"/>
            <a:ext cx="8412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・確認事項は「型」で出すと速い気がする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2112264"/>
            <a:ext cx="8412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・システム名／確認事項／担当／期限／参考、の5項目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2569464"/>
            <a:ext cx="8412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— あとで Permanent に育てる 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32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032" y="155448"/>
            <a:ext cx="155448" cy="155448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155448"/>
            <a:ext cx="155448" cy="155448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8" y="155448"/>
            <a:ext cx="155448" cy="155448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5720"/>
            <a:ext cx="5486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Obsidian — 第二の脳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7315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8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Hiragino Kaku Gothic Pro"/>
                <a:ea typeface="Hiragino Kaku Gothic Pro"/>
                <a:cs typeface="Hiragino Kaku Gothic Pro"/>
              </a:rPr>
              <a:t>STEP 2 まわす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57200"/>
            <a:ext cx="3108960" cy="64008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5669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VAULT ／ 第二の脳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9875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00_Inbox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4592" y="1417320"/>
            <a:ext cx="2788920" cy="384048"/>
          </a:xfrm>
          <a:prstGeom prst="roundRect">
            <a:avLst>
              <a:gd name="adj" fmla="val 8000"/>
            </a:avLst>
          </a:prstGeom>
          <a:solidFill>
            <a:srgbClr val="2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4447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1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10_Daily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19019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20_Projects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23591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30_Areas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28163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40_Resources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32735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50_PermanentNotes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37307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90_Archive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6120" y="566928"/>
            <a:ext cx="8778240" cy="457200"/>
          </a:xfrm>
          <a:prstGeom prst="roundRect">
            <a:avLst>
              <a:gd name="adj" fmla="val 8000"/>
            </a:avLst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566928"/>
            <a:ext cx="8412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10_Daily / 2026-10-10.md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1234440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2026-10-10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1920240"/>
            <a:ext cx="8412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B7CF6"/>
                </a:solidFill>
                <a:latin typeface="Hiragino Kaku Gothic Pro"/>
                <a:ea typeface="Hiragino Kaku Gothic Pro"/>
                <a:cs typeface="Hiragino Kaku Gothic Pro"/>
              </a:rPr>
              <a:t>今日やること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242316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☐  </a:t>
            </a:r>
            <a:r>
              <a:rPr sz="1600" b="0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確認事項テンプレを1枚つくる  ← Top1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288036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☐  </a:t>
            </a:r>
            <a:r>
              <a:rPr sz="1600" b="0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定例の論点を3つ出す  ← Top2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333756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☐  </a:t>
            </a:r>
            <a:r>
              <a:rPr sz="1600" b="0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Permanent を1枚書く  ← Top3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32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032" y="155448"/>
            <a:ext cx="155448" cy="155448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155448"/>
            <a:ext cx="155448" cy="155448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8" y="155448"/>
            <a:ext cx="155448" cy="155448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5720"/>
            <a:ext cx="5486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Obsidian — 第二の脳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7315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8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Hiragino Kaku Gothic Pro"/>
                <a:ea typeface="Hiragino Kaku Gothic Pro"/>
                <a:cs typeface="Hiragino Kaku Gothic Pro"/>
              </a:rPr>
              <a:t>STEP 3 つなげる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57200"/>
            <a:ext cx="3108960" cy="64008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5669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VAULT ／ 第二の脳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9875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00_Inbox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4447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10_Daily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9019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20_Projects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3591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30_Areas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28163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40_Resources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4592" y="3246120"/>
            <a:ext cx="2788920" cy="384048"/>
          </a:xfrm>
          <a:prstGeom prst="roundRect">
            <a:avLst>
              <a:gd name="adj" fmla="val 8000"/>
            </a:avLst>
          </a:prstGeom>
          <a:solidFill>
            <a:srgbClr val="2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32735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1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50_PermanentNotes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37307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90_Archive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6120" y="566928"/>
            <a:ext cx="8778240" cy="457200"/>
          </a:xfrm>
          <a:prstGeom prst="roundRect">
            <a:avLst>
              <a:gd name="adj" fmla="val 8000"/>
            </a:avLst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566928"/>
            <a:ext cx="8412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50_PermanentNotes / 確認は型で出す.md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1234440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確認は型で出す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1920240"/>
            <a:ext cx="8412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B7CF6"/>
                </a:solidFill>
                <a:latin typeface="Hiragino Kaku Gothic Pro"/>
                <a:ea typeface="Hiragino Kaku Gothic Pro"/>
                <a:cs typeface="Hiragino Kaku Gothic Pro"/>
              </a:rPr>
              <a:t>一言でいうと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2423160"/>
            <a:ext cx="8412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確認は、システム名・内容・担当・期限・参考の型に揃える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2880360"/>
            <a:ext cx="8412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B7CF6"/>
                </a:solidFill>
                <a:latin typeface="Hiragino Kaku Gothic Pro"/>
                <a:ea typeface="Hiragino Kaku Gothic Pro"/>
                <a:cs typeface="Hiragino Kaku Gothic Pro"/>
              </a:rPr>
              <a:t>自分の言葉で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3383280"/>
            <a:ext cx="8412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相手の回答コストが下がり、未回答の管理もできる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3840480"/>
            <a:ext cx="8412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B7CF6"/>
                </a:solidFill>
                <a:latin typeface="Hiragino Kaku Gothic Pro"/>
                <a:ea typeface="Hiragino Kaku Gothic Pro"/>
                <a:cs typeface="Hiragino Kaku Gothic Pro"/>
              </a:rPr>
              <a:t>具体例 ／ 関連ノート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32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032" y="155448"/>
            <a:ext cx="155448" cy="155448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155448"/>
            <a:ext cx="155448" cy="155448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8" y="155448"/>
            <a:ext cx="155448" cy="155448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5720"/>
            <a:ext cx="5486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Obsidian — 第二の脳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7315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8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Hiragino Kaku Gothic Pro"/>
                <a:ea typeface="Hiragino Kaku Gothic Pro"/>
                <a:cs typeface="Hiragino Kaku Gothic Pro"/>
              </a:rPr>
              <a:t>STEP 4 結ぶ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57200"/>
            <a:ext cx="3108960" cy="64008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5669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VAULT ／ 第二の脳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9875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00_Inbox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4447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10_Daily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9019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20_Projects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3591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30_Areas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28163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40_Resources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4592" y="3246120"/>
            <a:ext cx="2788920" cy="384048"/>
          </a:xfrm>
          <a:prstGeom prst="roundRect">
            <a:avLst>
              <a:gd name="adj" fmla="val 8000"/>
            </a:avLst>
          </a:prstGeom>
          <a:solidFill>
            <a:srgbClr val="2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32735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1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50_PermanentNotes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37307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90_Archive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6120" y="566928"/>
            <a:ext cx="8778240" cy="457200"/>
          </a:xfrm>
          <a:prstGeom prst="roundRect">
            <a:avLst>
              <a:gd name="adj" fmla="val 8000"/>
            </a:avLst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566928"/>
            <a:ext cx="8412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50_PermanentNotes / 確認は型で出す.md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1234440"/>
            <a:ext cx="8412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B7CF6"/>
                </a:solidFill>
                <a:latin typeface="Hiragino Kaku Gothic Pro"/>
                <a:ea typeface="Hiragino Kaku Gothic Pro"/>
                <a:cs typeface="Hiragino Kaku Gothic Pro"/>
              </a:rPr>
              <a:t>関連ノート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173736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[[</a:t>
            </a:r>
            <a:r>
              <a:rPr sz="1600" b="1">
                <a:solidFill>
                  <a:srgbClr val="A58CFF"/>
                </a:solidFill>
                <a:latin typeface="Hiragino Kaku Gothic Pro"/>
                <a:ea typeface="Hiragino Kaku Gothic Pro"/>
                <a:cs typeface="Hiragino Kaku Gothic Pro"/>
              </a:rPr>
              <a:t>確認事項マネジメント</a:t>
            </a:r>
            <a:r>
              <a:rPr sz="16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]]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219456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[[</a:t>
            </a:r>
            <a:r>
              <a:rPr sz="1600" b="1">
                <a:solidFill>
                  <a:srgbClr val="A58CFF"/>
                </a:solidFill>
                <a:latin typeface="Hiragino Kaku Gothic Pro"/>
                <a:ea typeface="Hiragino Kaku Gothic Pro"/>
                <a:cs typeface="Hiragino Kaku Gothic Pro"/>
              </a:rPr>
              <a:t>決定事項シート</a:t>
            </a:r>
            <a:r>
              <a:rPr sz="16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]]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2651760"/>
            <a:ext cx="8412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[[ を打つと候補が出る。リンクをたどると関連知識へ飛べる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9000" y="3163824"/>
            <a:ext cx="8412480" cy="1188720"/>
          </a:xfrm>
          <a:prstGeom prst="roundRect">
            <a:avLst>
              <a:gd name="adj" fmla="val 8000"/>
            </a:avLst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11880" y="3300984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バックリンク（このノートを参照しているノート）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1880" y="3712464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・</a:t>
            </a:r>
            <a:r>
              <a:rPr sz="1400" b="0">
                <a:solidFill>
                  <a:srgbClr val="A58CFF"/>
                </a:solidFill>
                <a:latin typeface="Hiragino Kaku Gothic Pro"/>
                <a:ea typeface="Hiragino Kaku Gothic Pro"/>
                <a:cs typeface="Hiragino Kaku Gothic Pro"/>
              </a:rPr>
              <a:t>PM編：複数社連携の確認事項マネジメント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32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032" y="155448"/>
            <a:ext cx="155448" cy="155448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155448"/>
            <a:ext cx="155448" cy="155448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8" y="155448"/>
            <a:ext cx="155448" cy="155448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5720"/>
            <a:ext cx="5486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Obsidian — 第二の脳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7315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8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Hiragino Kaku Gothic Pro"/>
                <a:ea typeface="Hiragino Kaku Gothic Pro"/>
                <a:cs typeface="Hiragino Kaku Gothic Pro"/>
              </a:rPr>
              <a:t>STEP 5 俯瞰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57200"/>
            <a:ext cx="3108960" cy="64008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5669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VAULT ／ 第二の脳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9875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00_Inbox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4447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10_Daily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9019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20_Projects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3591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30_Areas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28163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40_Resources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32735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50_PermanentNotes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37307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90_Archive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46120" y="566928"/>
            <a:ext cx="8778240" cy="6035040"/>
          </a:xfrm>
          <a:prstGeom prst="roundRect">
            <a:avLst>
              <a:gd name="adj" fmla="val 8000"/>
            </a:avLst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29000" y="68580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グラフビュー ― 知識のつながり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4480560" y="2331720"/>
            <a:ext cx="1508760" cy="1600200"/>
          </a:xfrm>
          <a:prstGeom prst="line">
            <a:avLst/>
          </a:prstGeom>
          <a:ln w="15240">
            <a:solidFill>
              <a:srgbClr val="443F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989320" y="2331720"/>
            <a:ext cx="1508759" cy="1051559"/>
          </a:xfrm>
          <a:prstGeom prst="line">
            <a:avLst/>
          </a:prstGeom>
          <a:ln w="15240">
            <a:solidFill>
              <a:srgbClr val="443F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989320" y="2331720"/>
            <a:ext cx="3337560" cy="45719"/>
          </a:xfrm>
          <a:prstGeom prst="line">
            <a:avLst/>
          </a:prstGeom>
          <a:ln w="15240">
            <a:solidFill>
              <a:srgbClr val="443F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989320" y="2331720"/>
            <a:ext cx="2240280" cy="2697480"/>
          </a:xfrm>
          <a:prstGeom prst="line">
            <a:avLst/>
          </a:prstGeom>
          <a:ln w="15240">
            <a:solidFill>
              <a:srgbClr val="443F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5212080" y="2331720"/>
            <a:ext cx="777240" cy="3063239"/>
          </a:xfrm>
          <a:prstGeom prst="line">
            <a:avLst/>
          </a:prstGeom>
          <a:ln w="15240">
            <a:solidFill>
              <a:srgbClr val="443F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989320" y="2331720"/>
            <a:ext cx="4069080" cy="1965960"/>
          </a:xfrm>
          <a:prstGeom prst="line">
            <a:avLst/>
          </a:prstGeom>
          <a:ln w="15240">
            <a:solidFill>
              <a:srgbClr val="443F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4480560" y="3383279"/>
            <a:ext cx="3017519" cy="548641"/>
          </a:xfrm>
          <a:prstGeom prst="line">
            <a:avLst/>
          </a:prstGeom>
          <a:ln w="12700">
            <a:solidFill>
              <a:srgbClr val="3A365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486400" y="2011680"/>
            <a:ext cx="822960" cy="822960"/>
          </a:xfrm>
          <a:prstGeom prst="ellipse">
            <a:avLst/>
          </a:prstGeom>
          <a:solidFill>
            <a:srgbClr val="8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285292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確認は型で出す</a:t>
            </a:r>
          </a:p>
        </p:txBody>
      </p:sp>
      <p:sp>
        <p:nvSpPr>
          <p:cNvPr id="29" name="Oval 28"/>
          <p:cNvSpPr/>
          <p:nvPr/>
        </p:nvSpPr>
        <p:spPr>
          <a:xfrm>
            <a:off x="4114800" y="3657600"/>
            <a:ext cx="603504" cy="603504"/>
          </a:xfrm>
          <a:prstGeom prst="ellipse">
            <a:avLst/>
          </a:prstGeom>
          <a:solidFill>
            <a:srgbClr val="5B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0" y="4279392"/>
            <a:ext cx="18836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確認事項
マネジメント</a:t>
            </a:r>
          </a:p>
        </p:txBody>
      </p:sp>
      <p:sp>
        <p:nvSpPr>
          <p:cNvPr id="31" name="Oval 30"/>
          <p:cNvSpPr/>
          <p:nvPr/>
        </p:nvSpPr>
        <p:spPr>
          <a:xfrm>
            <a:off x="7132320" y="3108960"/>
            <a:ext cx="603504" cy="603504"/>
          </a:xfrm>
          <a:prstGeom prst="ellipse">
            <a:avLst/>
          </a:prstGeom>
          <a:solidFill>
            <a:srgbClr val="5B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3730751"/>
            <a:ext cx="18836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決定事項
シート</a:t>
            </a:r>
          </a:p>
        </p:txBody>
      </p:sp>
      <p:sp>
        <p:nvSpPr>
          <p:cNvPr id="33" name="Oval 32"/>
          <p:cNvSpPr/>
          <p:nvPr/>
        </p:nvSpPr>
        <p:spPr>
          <a:xfrm>
            <a:off x="8961120" y="2103120"/>
            <a:ext cx="603504" cy="603504"/>
          </a:xfrm>
          <a:prstGeom prst="ellipse">
            <a:avLst/>
          </a:prstGeom>
          <a:solidFill>
            <a:srgbClr val="5B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2724912"/>
            <a:ext cx="18836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要件整理</a:t>
            </a:r>
          </a:p>
        </p:txBody>
      </p:sp>
      <p:sp>
        <p:nvSpPr>
          <p:cNvPr id="35" name="Oval 34"/>
          <p:cNvSpPr/>
          <p:nvPr/>
        </p:nvSpPr>
        <p:spPr>
          <a:xfrm>
            <a:off x="7863840" y="4754880"/>
            <a:ext cx="603504" cy="603504"/>
          </a:xfrm>
          <a:prstGeom prst="ellipse">
            <a:avLst/>
          </a:prstGeom>
          <a:solidFill>
            <a:srgbClr val="5B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59" y="5376672"/>
            <a:ext cx="18836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中間納品</a:t>
            </a:r>
          </a:p>
        </p:txBody>
      </p:sp>
      <p:sp>
        <p:nvSpPr>
          <p:cNvPr id="37" name="Oval 36"/>
          <p:cNvSpPr/>
          <p:nvPr/>
        </p:nvSpPr>
        <p:spPr>
          <a:xfrm>
            <a:off x="4846320" y="5120640"/>
            <a:ext cx="603504" cy="603504"/>
          </a:xfrm>
          <a:prstGeom prst="ellipse">
            <a:avLst/>
          </a:prstGeom>
          <a:solidFill>
            <a:srgbClr val="5B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5742431"/>
            <a:ext cx="18836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速いQA</a:t>
            </a:r>
          </a:p>
        </p:txBody>
      </p:sp>
      <p:sp>
        <p:nvSpPr>
          <p:cNvPr id="39" name="Oval 38"/>
          <p:cNvSpPr/>
          <p:nvPr/>
        </p:nvSpPr>
        <p:spPr>
          <a:xfrm>
            <a:off x="9692640" y="4023360"/>
            <a:ext cx="603504" cy="603504"/>
          </a:xfrm>
          <a:prstGeom prst="ellipse">
            <a:avLst/>
          </a:prstGeom>
          <a:solidFill>
            <a:srgbClr val="5B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0" y="4645152"/>
            <a:ext cx="18836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PM編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32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032" y="155448"/>
            <a:ext cx="155448" cy="155448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155448"/>
            <a:ext cx="155448" cy="155448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8" y="155448"/>
            <a:ext cx="155448" cy="155448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5720"/>
            <a:ext cx="5486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Obsidian — 第二の脳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7315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8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Hiragino Kaku Gothic Pro"/>
                <a:ea typeface="Hiragino Kaku Gothic Pro"/>
                <a:cs typeface="Hiragino Kaku Gothic Pro"/>
              </a:rPr>
              <a:t>STEP 6 生かす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57200"/>
            <a:ext cx="3108960" cy="64008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5669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VAULT ／ 第二の脳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457200"/>
            <a:ext cx="12191695" cy="64008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A8A"/>
                </a:solidFill>
                <a:latin typeface="Menlo"/>
                <a:ea typeface="Menlo"/>
                <a:cs typeface="Menlo"/>
              </a:rPr>
              <a:t>● ● ●  claude — 第二の脳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234440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BD968"/>
                </a:solidFill>
                <a:latin typeface="Menlo"/>
                <a:ea typeface="Menlo"/>
                <a:cs typeface="Menlo"/>
              </a:rPr>
              <a:t>$ claude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691640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DCDDDE"/>
                </a:solidFill>
                <a:latin typeface="Menlo"/>
                <a:ea typeface="Menlo"/>
                <a:cs typeface="Menlo"/>
              </a:rPr>
              <a:t>&gt; /ask-vault 今週の要点は？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48840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DCDDDE"/>
                </a:solidFill>
                <a:latin typeface="Menlo"/>
                <a:ea typeface="Menlo"/>
                <a:cs typeface="Menlo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606040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A8A"/>
                </a:solidFill>
                <a:latin typeface="Menlo"/>
                <a:ea typeface="Menlo"/>
                <a:cs typeface="Menlo"/>
              </a:rPr>
              <a:t>Vault を横断して回答します：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063240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DCDDDE"/>
                </a:solidFill>
                <a:latin typeface="Menlo"/>
                <a:ea typeface="Menlo"/>
                <a:cs typeface="Menlo"/>
              </a:rPr>
              <a:t>  1. ある案件：中間納品は未確定事項一覧を添えて完了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520440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DCDDDE"/>
                </a:solidFill>
                <a:latin typeface="Menlo"/>
                <a:ea typeface="Menlo"/>
                <a:cs typeface="Menlo"/>
              </a:rPr>
              <a:t>  2. 確認事項は「型」で出す運用に統一（PM編ノート）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977639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DCDDDE"/>
                </a:solidFill>
                <a:latin typeface="Menlo"/>
                <a:ea typeface="Menlo"/>
                <a:cs typeface="Menlo"/>
              </a:rPr>
              <a:t>  3. 来週の論点：認証ロック要件を決裁定例で頭出し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34840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DCDDDE"/>
                </a:solidFill>
                <a:latin typeface="Menlo"/>
                <a:ea typeface="Menlo"/>
                <a:cs typeface="Menlo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892040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A58CFF"/>
                </a:solidFill>
                <a:latin typeface="Menlo"/>
                <a:ea typeface="Menlo"/>
                <a:cs typeface="Menlo"/>
              </a:rPr>
              <a:t>→ 関連ノート: [[確認は型で出す]] [[決定事項シート]]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32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032" y="155448"/>
            <a:ext cx="155448" cy="155448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155448"/>
            <a:ext cx="155448" cy="155448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8" y="155448"/>
            <a:ext cx="155448" cy="155448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5720"/>
            <a:ext cx="5486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Obsidian — 第二の脳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57200"/>
            <a:ext cx="3108960" cy="64008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5669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VAULT ／ 第二の脳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9875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00_Inbox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4447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10_Daily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9019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20_Projects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3591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30_Areas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8163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40_Resources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2735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50_PermanentNotes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373075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/>
            </a:r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90_Archive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6120" y="566928"/>
            <a:ext cx="8778240" cy="457200"/>
          </a:xfrm>
          <a:prstGeom prst="roundRect">
            <a:avLst>
              <a:gd name="adj" fmla="val 8000"/>
            </a:avLst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566928"/>
            <a:ext cx="8412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ダッシュボード.md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1234440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第二の脳の1日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1920240"/>
            <a:ext cx="8412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B7CF6"/>
                </a:solidFill>
                <a:latin typeface="Hiragino Kaku Gothic Pro"/>
                <a:ea typeface="Hiragino Kaku Gothic Pro"/>
                <a:cs typeface="Hiragino Kaku Gothic Pro"/>
              </a:rPr>
              <a:t>ためる → つなげる → 引き出す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242316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・ためる：思いつきを Inbox へ（手で一行）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288036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・つなげる：自分の言葉で Permanent＋[[リンク]]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333756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DCDDDE"/>
                </a:solidFill>
                <a:latin typeface="Hiragino Kaku Gothic Pro"/>
                <a:ea typeface="Hiragino Kaku Gothic Pro"/>
                <a:cs typeface="Hiragino Kaku Gothic Pro"/>
              </a:rPr>
              <a:t>・引き出す：AI に一言（/ask-vault・横断検索）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3794760"/>
            <a:ext cx="8412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Hiragino Kaku Gothic Pro"/>
                <a:ea typeface="Hiragino Kaku Gothic Pro"/>
                <a:cs typeface="Hiragino Kaku Gothic Pro"/>
              </a:rPr>
              <a:t>小さく始めれば、今日からあなたも動かせる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
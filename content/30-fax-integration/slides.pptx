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6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紙・FAX業務をAIで自動化する ｜ 第5回</a:t>
            </a:r>
          </a:p>
          <a:p>
            <a:pPr algn="l">
              <a:spcAft>
                <a:spcPts val="800"/>
              </a:spcAft>
            </a:pPr>
            <a:r>
              <a:rPr sz="42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基幹連携と、人の確認</a:t>
            </a:r>
          </a:p>
          <a:p>
            <a:pPr algn="l">
              <a:spcAft>
                <a:spcPts val="1800"/>
              </a:spcAft>
            </a:pPr>
            <a:r>
              <a:rPr sz="25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― 自動と手動の、賢い分担</a:t>
            </a:r>
          </a:p>
          <a:p>
            <a:pPr algn="l">
              <a:spcAft>
                <a:spcPts val="800"/>
              </a:spcAft>
            </a:pPr>
            <a:r>
              <a:rPr sz="18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株式会社pipon｜pipon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連携の方法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基幹システムへ、どう渡すか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CSV取り込み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880360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多くの販売・受注管理が対応。まず試しやすい定番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38728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API連携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3538728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システムがAPIを持つなら、リアルタイムに直接登録できる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97096"/>
            <a:ext cx="39319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RPA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197096"/>
            <a:ext cx="63093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APIが無い古いシステムでも、画面操作を自動化して入力できる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6364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9A948C"/>
                </a:solidFill>
                <a:latin typeface="Hiragino Kaku Gothic Pro"/>
                <a:ea typeface="Hiragino Kaku Gothic Pro"/>
                <a:cs typeface="Hiragino Kaku Gothic Pro"/>
              </a:rPr>
              <a:t>「できるだけ既存の仕組みに合わせる」と、導入が速く・安くなる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全部自動にしない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ヒューマン・イン・ザ・ループ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・AIの確信度で振り分ける：高い→自動で登録、低い→人が確認してから登録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・人は「全件の入力」ではなく「怪しい分だけの確認」に回る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・これで、工数を大きく減らしつつ、致命的なミスを防げる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安心して任せるために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確認画面と、記録（監査ログ）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・元画像と、AIの読み取り結果を“横に並べて”見られる確認画面を用意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・誰が・いつ・何を直したかを記録に残す（あとで追える・責任が明確）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・この透明性が、現場が自動化を信頼して使える土台になる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うまくいかない時も想定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失敗時のリカバリを決めておく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・取り込み失敗・重複・訂正が出たときの“戻し方”を最初に決める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・同じ注文を二重に登録しないよう、重複チェックを入れる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・エラーは握りつぶさず、担当へ通知して気づける形に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1">
                <a:solidFill>
                  <a:srgbClr val="E87A3E"/>
                </a:solidFill>
                <a:latin typeface="Hiragino Kaku Gothic Pro"/>
                <a:ea typeface="Hiragino Kaku Gothic Pro"/>
                <a:cs typeface="Hiragino Kaku Gothic Pro"/>
              </a:rPr>
              <a:t>第5回まとめ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自動7〜9割＋人の確認で回す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424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・連携はCSV/API/RPA。既存の仕組みに合わせると速くて安い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・確信度で振り分け、人は“怪しい分だけ”確認する</a:t>
            </a:r>
          </a:p>
          <a:p>
            <a:pPr algn="l">
              <a:spcAft>
                <a:spcPts val="1400"/>
              </a:spcAft>
            </a:pPr>
            <a:r>
              <a:rPr sz="2300" b="0">
                <a:solidFill>
                  <a:srgbClr val="F5F3F0"/>
                </a:solidFill>
                <a:latin typeface="Hiragino Kaku Gothic Pro"/>
                <a:ea typeface="Hiragino Kaku Gothic Pro"/>
                <a:cs typeface="Hiragino Kaku Gothic Pro"/>
              </a:rPr>
              <a:t>・確認画面・監査ログ・リカバリを用意して、安心して任せられる形に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
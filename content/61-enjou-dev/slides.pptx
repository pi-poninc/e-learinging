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j5gg3oFS1GXuhOgpEk9/Nk5wtB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45CBAB-F9AC-4EA2-8FF3-28AE7FE1501D}">
  <a:tblStyle styleId="{B245CBAB-F9AC-4EA2-8FF3-28AE7FE1501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この講座では、受託の開発案件を炎上させずに回すための考え方と、毎週の定例の進め方を学びます。題材は、実際に進めている予約システム開発の定例です。キーワードは、鉄則をおさえて、動く画面で決める、です。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この講座は、三つのパートに分かれています。パート1では、炎上しないための鉄則として、10の鉄則と、特に大事な6つのポイントを見ていきます。パート2では、動く画面を見せてその場で決める、定例の進め方を学びます。パート3では、その定例の資料をClaudeで作る手順を紹介します。そして、全体を通して大事なことが二つあります。ひとつは、実際の画面ですり合わせること。AIで試作の画面がすぐ作れるようになったので、文章や口頭ではなく、画面を見ながら合わせると、イメージがずれにくくなります。もうひとつは、多少のことは許してもらえる関係をつくること。炎上は、ずれと不信から起きます。画面でずれを防ぎ、関係で不信を防ぐ。これがこの講座の軸です。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ず、炎上はなぜ起きるのかを考えてみましょう。炎上の多くは、技術の問題ではありません。思っていたのと違う、聞いていない、という食い違いから始まります。たとえば、完成間際にイメージと違うと言われて、作り直しになる。追加の要望が積み重なって、費用も納期も合わなくなる。相手の確認が遅れたのに、こちらの遅れにされる。言った、言わないで揉める。小さな遅れを隠して、発覚したときに大きな問題になる。どれも、最初に期待値をそろえる、早めに画面を見せる、影響を添えて相談する、記録を残す、悪い知らせを早く伝える、といった基本で防げます。炎上の芽は、最初の合意と、ふだんのコミュニケーションで摘めるんです。</a:t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こちらが、受託開発で揉めないための10の鉄則です。ひとつめ、ゴールを明確にする。何ができれば成功なのかを、お客様と合意します。ふたつめ、スコープを明確にする。やることだけでなく、やらないことも決めます。みっつめ、完成イメージを早く共有する。よっつめ、良好な関係を築く。いつつめ、お客様側の役割を明確にする。素材の提供や確認、決定の期日を決めます。むっつめ、進捗を見える形にする。ななつめ、変更の要望を管理する。追加の要望には、費用と納期への影響を示します。やっつめ、リスクはすぐに共有する。ここのつめ、決まったことを記録する。定例を録画し、議事録と資料を先方にも共有します。そして10番目、納品後の対応範囲を決める。不具合の修正と、追加の開発と、保守を分けておきます。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の鉄則のうち、炎上を防ぐ効果が特に大きいものを、6つのポイントにまとめました。1、要件定義より、期待値定義。2、実際の画面ですり合わせる。3、相手の宿題に期日をつける。4、変更と悪い知らせは、早く、影響つきで。5、多少のことは許してもらえる関係をつくる。6、記録を残して、自分たちを守る。次のページから、ひとつずつ見ていきます。</a:t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1は、要件定義より、期待値定義です。要件定義では、作る機能を決めます。でも、機能の一覧が合っていても、どうなれば成功かがずれていると、炎上します。期待値定義とは、お客様が期待していることと、こちらが約束できることのずれを、作り始める前に埋めることです。具体的には、対象とする業務と機能、テストの方法と合格の基準、AIの精度の測り方、不具合と仕様変更の区別、そして検収の期間と、どこまで無償で直すか。この五つを最初に決めておきます。特に、生成AIを使う案件では注意が必要です。AIの答えは毎回同じとは限らず、100パーセント正しいとも限りません。必ず正しく答えること、を前提にした検収条件は避けて、精度の測り方と合格ラインを、先に決めておきましょう。</a:t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2は、実際の画面ですり合わせることです。これまでは、要件を文章や手書きの図で合意して、作ってから初めて画面を見せていました。そのため、思っていたのと違う、が終盤に出てきます。今は、AIで試作の画面、モックアップがとても速く作れます。打ち合わせから数日で動く画面を見せて、お客様に触ってもらいながら合わせる。そうすれば、ずれが小さいうちに直せます。流れは、要望を聞く、AIでモックを作る、触ってもらう、その場で直す・決める、の四つです。ひとつ注意があります。モックは、あくまで見た目のイメージを合わせるためのものです。もう完成している、と受け取られないよう、本番の品質や費用とは別だということを、最初に伝えておきましょう。画面で合意したことは、ずれにくく、あとで揉めにくくなります。</a:t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3と4です。ポイント3は、相手の宿題に期日をつけること。素材の提供、画面の確認、仕様の決定を、誰がいつまでにやるのかを決めます。遅れたら、こちらの納期にどう響くかも、先に伝えておきます。たとえば、10月24日までにロゴ画像をいただければ、11月7日のテスト公開に間に合います、という伝え方です。ポイント4は、変更と悪い知らせは、早く、影響つきで伝えること。追加の要望は断らずに、費用と納期への影響を添えて、お客様に選んでもらいます。たとえば、この追加は約3日かかります、今回のリリースに入れるか、次回に回すか選んでください、という形です。遅れや技術的な問題は、わかった時点ですぐに伝えます。変更の合意は、口頭で済ませず、メールやチャットの文字でも残しておきましょう。</a:t>
            </a:r>
            <a:endParaRPr/>
          </a:p>
        </p:txBody>
      </p:sp>
      <p:sp>
        <p:nvSpPr>
          <p:cNvPr id="218" name="Google Shape;2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5は、多少のことは許してもらえる関係をつくることです。どれだけ準備しても、何かは起きます。そのとき、一緒に解決しよう、と言ってもらえるかどうかは、ふだんの関係で決まります。ふだんは、返信を早くして、こまめに状況を伝える。悪い知らせほど、自分から早く伝えます。定例では、オンラインならカメラをオンにして顔を見て話し、最初の数分の雑談も大事にします。相手の意見をその場で資料に書くと、ちゃんと聞いていることが伝わります。大きい案件では、キックオフやリリース前などの節目に、対面で会いましょう。会食などで案件以外の話をする場をつくったり、決める立場の人とも直接話しておくことも大切です。信頼の貯金があれば、トラブルは炎上ではなく、相談になります。</a:t>
            </a:r>
            <a:endParaRPr/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6は、記録を残して、自分たちを守ることです。何かあったときに多いのが、言った、言わないの水掛け論です。これを防ぐために、証拠が残る状態をつくっておきます。ひとつめは、録画すること。定例は録画しておきます。AI議事録アプリで十分です。最初に、記録のため録画します、と一言伝えましょう。ふたつめは、資料に追記すること。先方からの意見やフィードバックは、定例資料にその場で書き込みます。メールやチャットで来た意見も、資料に足しておきます。みっつめは、必ず先方に共有すること。定例のあと、議事録と意見入りの資料を送り、違っていたらご指摘ください、と添えます。自分たちだけのメモでは、証拠として弱いんです。先方に送って異論が出なければ、それが合意の記録になります。証拠が残っている状態が、何かあったときに、自分たちを守ってくれます。</a:t>
            </a:r>
            <a:endParaRPr/>
          </a:p>
        </p:txBody>
      </p:sp>
      <p:sp>
        <p:nvSpPr>
          <p:cNvPr id="267" name="Google Shape;2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ここまで見てきた鉄則は、毎週の定例で実行して、初めて効きます。たとえば、ゴールを明確にする、は、定例の冒頭で、今日は何を決める回かを言い切ること。完成イメージの共有は、キャプチャで予告して、実際の画面を動かして見せること。お客様側の役割は、お願いしたいことを、案と期日をつけて出すこと。進捗の見える化は、数字と結論の一文で見せて、スケジュールに今日の線を引くこと。そして記録は、録画して、意見をその場で資料にメモし、終わったら先方に共有すること。次のパート2では、こうした定例の進め方を、具体的に学んでいきます。</a:t>
            </a:r>
            <a:endParaRPr/>
          </a:p>
        </p:txBody>
      </p:sp>
      <p:sp>
        <p:nvSpPr>
          <p:cNvPr id="302" name="Google Shape;30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ここからはパート2、定例の進め方です。よくある定例のつまずきとして、資料の説明だけで終わって、相手は画面の動きを想像するしかない。その場で出た意見が、誰かのメモやチャットに散らばって消える。検討します、が続いて、何も決まらない。相手側の宿題があいまいで、気づいたら開発が止まっている。こんなことが起きがちです。このパートのやり方では、実際の画面を見せるので、思っていたのと違う、が早く出ます。意見はその場で資料に書くので、資料がそのまま議事録になります。決めたいことに案があるのでその場で決まり、相手の宿題は期日つきで残ります。実際にお客様から、この進め方がわかりやすい、と評価をいただいたやり方です。</a:t>
            </a:r>
            <a:endParaRPr/>
          </a:p>
        </p:txBody>
      </p:sp>
      <p:sp>
        <p:nvSpPr>
          <p:cNvPr id="318" name="Google Shape;31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定例の資料は、上から順に進めるだけで、自然に流れる構成にします。前回の確認、進捗、画面の紹介、日程、確認と決定、そして次のアクション、の順番です。いちばん時間をかけるのは、画面の紹介です。当日は、三つの動きをくり返します。まずスライドで、キャプチャと見ていただきたい点を見せて、これから何を見るかを予告する。次に実際の画面に切り替えて、テスト環境を操作し、動きを見てもらう。最後にスライドに戻って、出た意見を、その場で四角の図形に書く。これを、画面ごとにくり返します。</a:t>
            </a:r>
            <a:endParaRPr/>
          </a:p>
        </p:txBody>
      </p:sp>
      <p:sp>
        <p:nvSpPr>
          <p:cNvPr id="338" name="Google Shape;3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定例の進め方は、8つのポイントにまとめています。1から5は資料のつくり方、6から8は当日の進め方です。目的とゴールを冒頭で宣言する。前回決まったことから始める。進捗は、数字と結論の一文で見せる。スケジュールは、色と今日の線で見せる。画面は、キャプチャと見ていただきたい点で予告する。ここまでが資料のつくり方です。当日は、スライドと実画面を往復して、動きを見せる。意見はその場で、資料に四角のメモで残す。決めたいことは案つき、宿題は期日つきで出す。合言葉は、見せて、書いて、決める。説明を聞いてもらう場ではなく、相手に判断してもらう場にします。</a:t>
            </a:r>
            <a:endParaRPr/>
          </a:p>
        </p:txBody>
      </p:sp>
      <p:sp>
        <p:nvSpPr>
          <p:cNvPr id="385" name="Google Shape;3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1は、目的とゴールを冒頭で宣言することです。最初のスライドで、今日は何を決める回なのかを、一文で言い切ります。実際の資料では、画面を見ていただき、リリース日と残りの確認事項を決める回、と書きました。議題ごとに、5分、20分といった時間配分も見せて、下の帯にはゴールを具体的に書きます。そうすると相手も、今日は決める日だ、と構えて参加できますし、話が脱線しても、ゴールに戻す理由になります。ゴールは、何々の合意、何々の回答など、終わったかどうか判定できる形で書きましょう。</a:t>
            </a:r>
            <a:endParaRPr/>
          </a:p>
        </p:txBody>
      </p:sp>
      <p:sp>
        <p:nvSpPr>
          <p:cNvPr id="433" name="Google Shape;43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2は、前回決まったことから始めることです。前回の決定事項を1枚の表にまとめて、最初の5分で確認します。テーマ別に決まったことを並べ、リード文で、この内容で機能一覧を作り、実装を進めています、と、決定がどう使われたかも示します。決定を毎回積み上げていくので、あとから、そんな話だったかな、と蒸し返されにくくなります。前回メモした内容が、そのまま今回の1枚目の材料になります。</a:t>
            </a:r>
            <a:endParaRPr/>
          </a:p>
        </p:txBody>
      </p:sp>
      <p:sp>
        <p:nvSpPr>
          <p:cNvPr id="457" name="Google Shape;45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3は、進捗を、数字と結論の一文で見せることです。順調です、だけでは伝わりません。数字、結論、根拠の三点セットで見せます。実際の資料では、66機能のうち39機能に着手済み、と大きな数字で示し、下の帯に、おおむね順調、一部前倒し、と結論を書きました。気をつけていることは、赤で2点だけ。何で確認したのかという根拠も、注記に書きます。相手は細かい表を読まなくても状況がわかり、根拠があるので、数字を信じてもらえます。</a:t>
            </a:r>
            <a:endParaRPr/>
          </a:p>
        </p:txBody>
      </p:sp>
      <p:sp>
        <p:nvSpPr>
          <p:cNvPr id="481" name="Google Shape;48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4は、スケジュールを、色と今日の線で見せることです。スケジュール表、いわゆるWBSは、細かさよりも、どこまで済んで、今日どこにいるのかが一目でわかることを優先します。済んだ部分は緑に、相手と一緒に準備するものは別の色にします。今日の日付に縦線を引き、バーの横に、本日合意、AWSアカウント待ち、など状態を一言で書きます。リリース日は、赤い印で目立たせます。相手待ちの作業が見えるので、こちらの準備が遅れるとリリースが動く、ということが自然に伝わります。</a:t>
            </a:r>
            <a:endParaRPr/>
          </a:p>
        </p:txBody>
      </p:sp>
      <p:sp>
        <p:nvSpPr>
          <p:cNvPr id="503" name="Google Shape;50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5は、画面をキャプチャで予告することです。画面ごとに1枚、キャプチャを流れの順に3枚ほど並べ、右側に、見ていただきたい点を書いておきます。確認してほしいことと仮の部分を書き、ダミーのデータや仮の文言には、ダミー、仮、と明記します。見るポイントが先にわかるので、実際の画面を見たときの意見が具体的になりますし、仮の部分への指摘で時間を使わずに済みます。キャプチャは予告と記録のためのもので、本番の確認は、次の実画面で行います。</a:t>
            </a:r>
            <a:endParaRPr/>
          </a:p>
        </p:txBody>
      </p:sp>
      <p:sp>
        <p:nvSpPr>
          <p:cNvPr id="525" name="Google Shape;52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6は、スライドと実画面を往復することです。1画面ごとに、スライドを映す、実画面に切り替える、スライドに戻る、をくり返します。スライドでは、見る画面と見ていただきたい点を、30秒ほどで読み上げます。実画面では、ボタンを押す、入力する、次の画面に進む、まで実際に見せます。スライドに戻ったら、出た意見をその場でメモします。事前に、見せる画面をブラウザのタブに順番どおり開き、テスト用アカウントでログインしておきましょう。当日は、押さないボタンを先に伝える、まだ動かない部分は準備中と先に言う、相手が触りたそうなら操作を代わってもらう、といったことがコツです。</a:t>
            </a:r>
            <a:endParaRPr/>
          </a:p>
        </p:txBody>
      </p:sp>
      <p:sp>
        <p:nvSpPr>
          <p:cNvPr id="549" name="Google Shape;54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7は、意見をその場で資料にメモすることです。スライドに薄い黄色の四角を置いて、出た意見を書き込みます。画面共有をしたまま編集画面で書き、本文はなるべく隠さないよう、右端に寄せます。相手の言葉をなるべくそのまま書き、書いたら読み上げて、これで合っていますか、と確認します。どの画面への意見なのかが一目でわかり、言った、言わないが起きません。会議が終わった時点で、メモ入りの資料が、そのまま議事録の材料になります。</a:t>
            </a:r>
            <a:endParaRPr/>
          </a:p>
        </p:txBody>
      </p:sp>
      <p:sp>
        <p:nvSpPr>
          <p:cNvPr id="586" name="Google Shape;58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メモは、あとで読み返してわかるように書きます。ポイントは、四つの種類を書き分けることです。まず、決まったこと。たとえば、投薬されなかったら、一律で請求は行われない。次に、相手の宿題。予約上限は検討いただく、アマテラス様、のように、誰のボールかを書きます。今後の要望は、アップセルの仕組みを入れたい、今後、のように、初回の対象外であることを区別します。そして、やらないこと。クリニックの変更は機能をつくらず、キャンセルして再予約してもらう、といった形です。</a:t>
            </a:r>
            <a:endParaRPr/>
          </a:p>
        </p:txBody>
      </p:sp>
      <p:sp>
        <p:nvSpPr>
          <p:cNvPr id="608" name="Google Shape;60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ポイント8は、決めることを案つきで出すことです。どうしますか、と聞くのではなく、こちらの案を添えて、この案でよいですか、と聞きます。決めたいことは、論点、理由、案を1行にまとめます。相手は、はい、いいえ、で答えられるので、その場で決まります。相手にお願いしたいことは、期日と担当者を明記して、リリース日を守るための条件として示します。最後に、次のアクションと、次回見せるものを予告して締めくくります。</a:t>
            </a:r>
            <a:endParaRPr/>
          </a:p>
        </p:txBody>
      </p:sp>
      <p:sp>
        <p:nvSpPr>
          <p:cNvPr id="637" name="Google Shape;63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定例のあとにやることです。まず、当日のメモが入った状態の資料を保存します。次に、決定、宿題、要望を、議事録と機能一覧、確認事項の一覧に反映します。そして、決定事項と期日つきの宿題を相手に共有し、決まったことを、次回の、前回決まったこと、に転記します。こうして回していくと、前回決まったこと、進捗、画面、メモ、そして次回の前回決まったこと、と、毎回の定例がつながっていきます。資料をつくる、見せる、書く、残す、を、1本の資料で完結させましょう。</a:t>
            </a:r>
            <a:endParaRPr/>
          </a:p>
        </p:txBody>
      </p:sp>
      <p:sp>
        <p:nvSpPr>
          <p:cNvPr id="662" name="Google Shape;66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ここからはパート3、資料をClaudeで作る方法です。Claudeがテスト環境にログインし、画面を撮りながら整理して、資料にします。人がやるのは、最初に材料を渡すことと、最後に見て絞ることだけです。その間の、ログインして撮影する、気づきを整理する、進捗を数字にする、スライドにする、はClaudeが行います。実際の定例では、テスト環境の画面を約30枚撮影し、23枚の資料と、進捗を反映した機能一覧を作りました。撮る、数える、並べる、はClaudeに任せて、人は、相手に何を聞くか、に集中します。</a:t>
            </a:r>
            <a:endParaRPr/>
          </a:p>
        </p:txBody>
      </p:sp>
      <p:sp>
        <p:nvSpPr>
          <p:cNvPr id="693" name="Google Shape;69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順1は、材料を渡すことです。資料の中身は、ほぼこの材料で決まります。前回の議事録と決定事項、初回リリースの機能一覧、スケジュール、テスト環境のURLとテスト用アカウント、エンジニアの進捗報告、そして相手への確認事項と宿題の一覧。これらを、プロジェクトのフォルダにそろえておきます。注意点として、アカウントのIDとパスワードは、チャットや資料に書かず、1Passwordなど、決まった場所から渡しましょう。</a:t>
            </a:r>
            <a:endParaRPr/>
          </a:p>
        </p:txBody>
      </p:sp>
      <p:sp>
        <p:nvSpPr>
          <p:cNvPr id="746" name="Google Shape;74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順2は、ログインして撮影することです。Claudeがブラウザを操作してログインし、予約の流れの順に画面を撮っていきます。利用者側の画面はスマホの幅、管理画面はパソコンの幅で撮ります。流れの順に番号をつけて保存し、縦に長い画面は、全体版も撮ります。撮った画像は、日付つきのフォルダにまとめておきます。</a:t>
            </a:r>
            <a:endParaRPr/>
          </a:p>
        </p:txBody>
      </p:sp>
      <p:sp>
        <p:nvSpPr>
          <p:cNvPr id="762" name="Google Shape;76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撮影のときに守ることです。テスト環境でも、データを変えない、お金を動かさない、秘密を残さない、の三つを、Claudeへの指示に必ず入れます。具体的には、見るだけにして、登録や編集、削除はしない。予約はお支払いの確認画面までにして、決済のボタンは押さない。IDとパスワードは、資料やログ、チャットに書かない。そして、写っている名前や写真がダミーであることを確かめて、資料にもダミーと書きます。やったこと、やらなかったことは、作業記録にも残しておきましょう。</a:t>
            </a:r>
            <a:endParaRPr/>
          </a:p>
        </p:txBody>
      </p:sp>
      <p:sp>
        <p:nvSpPr>
          <p:cNvPr id="791" name="Google Shape;79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順3は、撮りながら気づきを整理することです。画面を実際に触ると、要件や前回の決定とのずれが見えてきます。たとえば、予約日が約2か月先まで選べるけれど、決済の都合では25日以内にしたい。キャンセルの扱いが画面にない。料金が全病院で同じ表示になっている。こうした気づきを書き出して、資料のどこで聞くかを決めます。その場で決めたいもの、画面を見て確認したいもの、後日の回答でよいもの、に振り分けます。設計書を読むだけでは出てこない論点が、実際の画面を触ると見つかります。</a:t>
            </a:r>
            <a:endParaRPr/>
          </a:p>
        </p:txBody>
      </p:sp>
      <p:sp>
        <p:nvSpPr>
          <p:cNvPr id="816" name="Google Shape;81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順4は、進捗を数字にすることです。機能一覧に進捗の列を足して、動いている、一部できている、これから、外部待ち、の四つで判定します。判定は、撮影した画面とエンジニアの報告をもとに、1機能ずつ行います。それを、66機能のうち39機能に着手済み、のように数字にまとめ、スケジュールの済んだ部分を緑にして、今日の線を引きます。数字の根拠として、何月何日時点で、何を見て判定したのかを、注記に書いておきましょう。</a:t>
            </a:r>
            <a:endParaRPr/>
          </a:p>
        </p:txBody>
      </p:sp>
      <p:sp>
        <p:nvSpPr>
          <p:cNvPr id="832" name="Google Shape;83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順5は、Claudeへの指示の例です。最初に構成とルールをまとめて渡すと、毎回同じ型の資料ができます。撮影については、テスト用アカウントでログインし、流れの順に撮って番号つきで保存すること、見るだけで決済は押さないこと、IDとパスワードは書かないこと、撮りながら気になる点をメモすること、を伝えます。進捗については、機能一覧に進捗の列を足して集計し、スケジュールに今日の線を入れること。構成は、前回決まったこと、全体の進捗、スケジュール、画面ごとの紹介、確認したいこと、日程、お願いしたいこと、決めたいこと、次のアクション、の順です。この指示文は、そのまま使えます。</a:t>
            </a:r>
            <a:endParaRPr/>
          </a:p>
        </p:txBody>
      </p:sp>
      <p:sp>
        <p:nvSpPr>
          <p:cNvPr id="866" name="Google Shape;86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" name="Google Shape;88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順6は、人が見て絞ることです。Claudeの案をそのまま出すのではなく、当日、相手に何を聞くかを、人が決めます。実際には、確認したいことを6件から3件に絞り、前回合意済みのものは外し、急がないものは、後日のご回答で大丈夫です、とまとめました。言い方も直します。専門用語は相手の言葉に置き換え、できていない、ではなく、準備中、12月、のように時期をつけます。それから、版の管理にも注意してください。当日に更新したとき、前日に足した作業がいったん消えてしまったことがありました。更新は日付つきの別名で保存して、違いを確かめてから差し替えましょう。</a:t>
            </a:r>
            <a:endParaRPr/>
          </a:p>
        </p:txBody>
      </p:sp>
      <p:sp>
        <p:nvSpPr>
          <p:cNvPr id="881" name="Google Shape;88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" name="Google Shape;90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チェックリストです。資料の準備、当日、定例のあと、の三つの場面で確認できるようにまとめました。資料の準備では、目的とゴールを一文で書いたか、前回決まったことを1枚にしたか、決めたいことに案をつけたか。当日は、スライドと実画面を往復したか、意見を四角のメモで書いて読み上げたか、決めたいことをその場で決めたか。定例のあとは、録画と議事録を保存したか、議事録と意見入りの資料を、先方に共有したか。定例のたびに、この表で確認してみてください。</a:t>
            </a:r>
            <a:endParaRPr/>
          </a:p>
        </p:txBody>
      </p:sp>
      <p:sp>
        <p:nvSpPr>
          <p:cNvPr id="903" name="Google Shape;90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パート2と3のまとめです。開発の定例は、動くものを見て、その場で決める場にします。見せる。キャプチャで予告して、実画面で動きを見せる。数字と色で、状況を一目で伝える。書く。意見はその場で資料に四角のメモで残し、読み上げて確認して、資料を議事録にする。決める。決めたいことは案つき、相手の宿題は期日つきで、次回の1枚目につなげる。資料づくりはClaudeに任せて、当日はまず、ポイント6と7、往復とメモから試してみてください。</a:t>
            </a:r>
            <a:endParaRPr/>
          </a:p>
        </p:txBody>
      </p:sp>
      <p:sp>
        <p:nvSpPr>
          <p:cNvPr id="915" name="Google Shape;91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最後に、講座全体のまとめです。炎上しない案件は、そろえる、見せる、残す、つながる、の積み重ねでできています。そろえる。何ができれば成功か、やらないこと、相手の宿題を、最初に決める。見せる。AIでモックを早く作り、実際の画面でイメージを合わせる。残す。定例は録画し、意見は資料に追記して、議事録と資料は必ず先方に共有する。つながる。こまめな連絡と、悪い知らせの早さ。大きい案件は、対面や会食で関係をつくる。多少何かが起きても許してもらえる関係が、いちばんの炎上対策です。ぜひ、次の案件から試してみてください。</a:t>
            </a:r>
            <a:endParaRPr/>
          </a:p>
        </p:txBody>
      </p:sp>
      <p:sp>
        <p:nvSpPr>
          <p:cNvPr id="937" name="Google Shape;93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29.png"/><Relationship Id="rId7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takaakikonaka/.claude/skills/synced/787d15ac-7a44-4e0b-8c2a-968b6af2f5d6_2a61d1f2-2f39-4b1c-b83a-be991a31dfe5/pipon-slides/assets/pipon-logo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6680" y="274320"/>
            <a:ext cx="1143000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pipon eラーニング｜開発案件のPM実務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55448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炎上しない開発案件の回し方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鉄則をおさえ、「動く画面」で決める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2743200"/>
            <a:ext cx="822960" cy="54864"/>
          </a:xfrm>
          <a:prstGeom prst="rect">
            <a:avLst/>
          </a:prstGeom>
          <a:solidFill>
            <a:srgbClr val="2296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92608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Part 1 炎上しないための鉄則　Part 2 定例の進め方　Part 3 資料はClaudeで作る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題材：AWP（Amateras様）定例 2026年10月14日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株式会社 pipon　小中貴晃　2026年10月20日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153912" y="2496312"/>
            <a:ext cx="2642616" cy="150235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h-01.png" id="23" name="Google Shape;2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514600"/>
            <a:ext cx="2606040" cy="1465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" name="Google Shape;31;p2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この講座の構成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347472" y="621792"/>
            <a:ext cx="8439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受託の開発案件を炎上させずに回すための考え方と、毎週の定例・資料づくりの型を学びます。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47472" y="1097280"/>
            <a:ext cx="2642616" cy="1325880"/>
          </a:xfrm>
          <a:prstGeom prst="roundRect">
            <a:avLst>
              <a:gd fmla="val 4138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1188720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1426464"/>
            <a:ext cx="2423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炎上しないための鉄則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1773936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10の鉄則と、特に大事な6つのポイント。始める前と進め方の考え方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 rot="5400000">
            <a:off x="3044952" y="169164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246120" y="1097280"/>
            <a:ext cx="2642616" cy="1325880"/>
          </a:xfrm>
          <a:prstGeom prst="roundRect">
            <a:avLst>
              <a:gd fmla="val 4138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355848" y="1188720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355848" y="1426464"/>
            <a:ext cx="2423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定例の進め方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355848" y="1773936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「動く画面」を見せて、その場で決める。8つのポイント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 rot="5400000">
            <a:off x="5943600" y="169164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144768" y="1097280"/>
            <a:ext cx="2642616" cy="1325880"/>
          </a:xfrm>
          <a:prstGeom prst="roundRect">
            <a:avLst>
              <a:gd fmla="val 4138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254496" y="1188720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Part 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254496" y="1426464"/>
            <a:ext cx="2423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資料はClaudeで作る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254496" y="1773936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画面の撮影から資料にするまでの6つの手順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47472" y="2606040"/>
            <a:ext cx="8439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全体を通して大事なこと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47472" y="2926080"/>
            <a:ext cx="4114800" cy="1143000"/>
          </a:xfrm>
          <a:prstGeom prst="roundRect">
            <a:avLst>
              <a:gd fmla="val 4800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57200" y="301752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実際の画面ですり合わせる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7200" y="3328416"/>
            <a:ext cx="3895344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AIでモックアップ（試作の画面）がすぐ作れるようになった。文章や口頭ではなく、画面を見ながら合わせると、イメージがずれにくい。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672584" y="2926080"/>
            <a:ext cx="4114800" cy="1143000"/>
          </a:xfrm>
          <a:prstGeom prst="roundRect">
            <a:avLst>
              <a:gd fmla="val 4800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782312" y="301752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多少のことは許してもらえる関係をつくる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82312" y="3328416"/>
            <a:ext cx="3895344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どれだけ準備しても何かは起きる。そのとき「一緒に解決しよう」と言ってもらえる関係が、いちばんの備えになる。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47472" y="4297680"/>
            <a:ext cx="8439912" cy="411480"/>
          </a:xfrm>
          <a:prstGeom prst="roundRect">
            <a:avLst>
              <a:gd fmla="val 11111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47472" y="4297680"/>
            <a:ext cx="8439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炎上は「ずれ」と「不信」から起きる。画面でずれを防ぎ、関係で不信を防ぐ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3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3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炎上はなぜ起きるか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炎上の多くは、技術の問題ではなく「思っていたのと違う」「聞いていない」から始まります。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47472" y="1097280"/>
            <a:ext cx="4114800" cy="2194560"/>
          </a:xfrm>
          <a:prstGeom prst="roundRect">
            <a:avLst>
              <a:gd fmla="val 2500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57200" y="118872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よくある炎上のパターン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1499616"/>
            <a:ext cx="3895344" cy="170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・完成間際に「イメージと違う」と言われ、作り直しになる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・追加の要望が積み重なり、費用も納期も合わなくなる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・相手の確認や素材が遅れたのに、こちらの遅れにされる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・言った・言わないで揉め、関係がこじれる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・小さな遅れを隠し、発覚したときに大きな問題になる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 rot="5400000">
            <a:off x="4498848" y="212140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672584" y="1097280"/>
            <a:ext cx="4114800" cy="2194560"/>
          </a:xfrm>
          <a:prstGeom prst="roundRect">
            <a:avLst>
              <a:gd fmla="val 2500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782312" y="118872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防ぎ方の考え方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782312" y="1499616"/>
            <a:ext cx="3895344" cy="170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・最初に「何ができれば成功か」をそろえる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・実際の画面を早めに見せ、ずれが小さいうちに直す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・追加の要望には、費用と納期への影響を添える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・定例を録画し、議事録と資料を先方にも共有する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・悪い知らせほど早く伝え、相談できる関係をつくっておく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47472" y="3520440"/>
            <a:ext cx="8439912" cy="411480"/>
          </a:xfrm>
          <a:prstGeom prst="roundRect">
            <a:avLst>
              <a:gd fmla="val 11111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47472" y="3520440"/>
            <a:ext cx="8439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炎上の芽は、最初の合意とふだんのコミュニケーションで摘める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4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4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炎上しないための10の鉄則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受託開発で揉めないために、最低限おさえておくことです。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" name="Google Shape;93;p4"/>
          <p:cNvGraphicFramePr/>
          <p:nvPr/>
        </p:nvGraphicFramePr>
        <p:xfrm>
          <a:off x="347472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{B245CBAB-F9AC-4EA2-8FF3-28AE7FE1501D}</a:tableStyleId>
              </a:tblPr>
              <a:tblGrid>
                <a:gridCol w="2743200"/>
                <a:gridCol w="5696700"/>
              </a:tblGrid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鉄則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具体的にやること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ゴールを明確にする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何ができれば成功なのか、お客様と合意する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スコープを明確にする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やることだけでなく、「やらないこと」も決める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完成イメージを早く共有する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AIで作ったモックや試作の画面で、認識を合わせる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良好な関係を築く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こまめな連絡と顔を合わせる場で、相談し合える信頼をつくる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お客様側の役割を明確にする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素材の提供・確認・決定の期日を決める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 進捗を見える形にする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週1回、進捗・課題・リスクを報告する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 変更の要望を管理する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追加の要望には、費用と納期への影響を示す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 リスクはすぐに共有する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遅れや技術的な問題を隠さず、早めに伝える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 決まったことを記録する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定例を録画し、議事録と意見入りの資料を先方にも共有する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 納品後の対応範囲を決める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不具合の修正・追加の開発・保守を分けておく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5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5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特に大事な6つのポイント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10の鉄則のうち、炎上を防ぐ効果が特に大きいものです。次のページから1つずつ見ていきます。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84048" y="1133856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384048" y="1133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04672" y="1024128"/>
            <a:ext cx="7982712" cy="484632"/>
          </a:xfrm>
          <a:prstGeom prst="roundRect">
            <a:avLst>
              <a:gd fmla="val 11321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914400" y="1060704"/>
            <a:ext cx="6309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要件定義より「期待値定義」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914400" y="1271016"/>
            <a:ext cx="6583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何を作るかだけでなく、何ができれば成功か・どう検収するかを先に決める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498080" y="106984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鉄則 1・2・10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84048" y="1682496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84048" y="168249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04672" y="1572768"/>
            <a:ext cx="7982712" cy="484632"/>
          </a:xfrm>
          <a:prstGeom prst="roundRect">
            <a:avLst>
              <a:gd fmla="val 11321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914400" y="1609344"/>
            <a:ext cx="6309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実際の画面ですり合わせる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914400" y="1819656"/>
            <a:ext cx="6583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AIでモックはすぐ作れる。言葉ではなく画面で合意し、ずれを早く見つける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498080" y="161848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鉄則 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84048" y="2231136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84048" y="22311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04672" y="2121408"/>
            <a:ext cx="7982712" cy="484632"/>
          </a:xfrm>
          <a:prstGeom prst="roundRect">
            <a:avLst>
              <a:gd fmla="val 11321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914400" y="2157984"/>
            <a:ext cx="6309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相手の宿題に期日をつける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914400" y="2368296"/>
            <a:ext cx="6583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素材・確認・決定の期日を決め、遅れたときの影響も伝えておく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498080" y="216712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鉄則 5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84048" y="2779776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84048" y="277977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04672" y="2670048"/>
            <a:ext cx="7982712" cy="484632"/>
          </a:xfrm>
          <a:prstGeom prst="roundRect">
            <a:avLst>
              <a:gd fmla="val 11321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914400" y="2706624"/>
            <a:ext cx="6309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変更と悪い知らせは、早く・影響つきで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14400" y="2916936"/>
            <a:ext cx="6583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追加の要望は費用と納期の影響を添えて選んでもらう。問題は隠さず早く伝える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498080" y="271576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鉄則 7・8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84048" y="3328416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384048" y="332841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04672" y="3218688"/>
            <a:ext cx="7982712" cy="484632"/>
          </a:xfrm>
          <a:prstGeom prst="roundRect">
            <a:avLst>
              <a:gd fmla="val 11321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914400" y="3255264"/>
            <a:ext cx="6309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多少のことは許してもらえる関係をつくる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14400" y="3465576"/>
            <a:ext cx="6583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こまめな連絡と、大きい案件では対面で会う・会食に行くことも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498080" y="326440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鉄則 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84048" y="3877056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84048" y="38770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04672" y="3767328"/>
            <a:ext cx="7982712" cy="484632"/>
          </a:xfrm>
          <a:prstGeom prst="roundRect">
            <a:avLst>
              <a:gd fmla="val 11321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914400" y="3803904"/>
            <a:ext cx="6309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記録を残して、自分たちを守る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914400" y="4014216"/>
            <a:ext cx="6583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定例は録画し、意見は資料に追記。議事録と資料は必ず先方に共有する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498080" y="381304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鉄則 9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" name="Google Shape;150;p6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6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① 要件定義より「期待値定義」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「何を作るか」だけでなく、「何ができれば成功か」をお客様とそろえます。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47472" y="1097280"/>
            <a:ext cx="2606040" cy="2331720"/>
          </a:xfrm>
          <a:prstGeom prst="roundRect">
            <a:avLst>
              <a:gd fmla="val 2353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75488" y="1207008"/>
            <a:ext cx="2350008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期待値定義とは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お客様が期待していることと、こちらが約束できることのずれを、作り始める前に埋めること。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機能の一覧が合っていても、「どうなれば成功か」がずれていると炎上する。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154680" y="1097280"/>
            <a:ext cx="5577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最初に決めておくこと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154680" y="1389888"/>
            <a:ext cx="5632704" cy="356616"/>
          </a:xfrm>
          <a:prstGeom prst="roundRect">
            <a:avLst>
              <a:gd fmla="val 15385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3264408" y="1389888"/>
            <a:ext cx="1920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対象とする業務・機能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212080" y="1389888"/>
            <a:ext cx="3520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どの業務の、どこまでを対象にするか（やらないことも）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154680" y="1801368"/>
            <a:ext cx="5632704" cy="356616"/>
          </a:xfrm>
          <a:prstGeom prst="roundRect">
            <a:avLst>
              <a:gd fmla="val 15385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3264408" y="1801368"/>
            <a:ext cx="1920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テスト方法と合格基準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212080" y="1801368"/>
            <a:ext cx="3520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何をどう試して、どうなれば合格とするか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154680" y="2212848"/>
            <a:ext cx="5632704" cy="356616"/>
          </a:xfrm>
          <a:prstGeom prst="roundRect">
            <a:avLst>
              <a:gd fmla="val 15385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3264408" y="2212848"/>
            <a:ext cx="1920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AIの精度の測り方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212080" y="2212848"/>
            <a:ext cx="3520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どんなデータを何件使い、どれくらい当たればよいか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154680" y="2624328"/>
            <a:ext cx="5632704" cy="356616"/>
          </a:xfrm>
          <a:prstGeom prst="roundRect">
            <a:avLst>
              <a:gd fmla="val 15385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264408" y="2624328"/>
            <a:ext cx="1920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不具合と仕様変更の区別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212080" y="2624328"/>
            <a:ext cx="3520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約束どおりに動かない＝不具合、約束にないこと＝変更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154680" y="3035808"/>
            <a:ext cx="5632704" cy="356616"/>
          </a:xfrm>
          <a:prstGeom prst="roundRect">
            <a:avLst>
              <a:gd fmla="val 15385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3264408" y="3035808"/>
            <a:ext cx="1920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検収期間と修正の範囲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212080" y="3035808"/>
            <a:ext cx="3520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いつまでに確認してもらい、どこまでを無償で直すか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47472" y="3611880"/>
            <a:ext cx="8439912" cy="777240"/>
          </a:xfrm>
          <a:prstGeom prst="roundRect">
            <a:avLst>
              <a:gd fmla="val 7059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57200" y="3703320"/>
            <a:ext cx="8220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生成AIを使う案件の注意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57200" y="4014216"/>
            <a:ext cx="8220456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AIの答えは毎回同じとは限らず、100%正しいとも限らない。「必ず正しく答えること」を前提にした検収条件は避け、精度の測り方と合格ラインを先に決めておく。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" name="Google Shape;184;p7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7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② 実際の画面ですり合わせる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186" name="Google Shape;1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AIでモックアップが速く作れるようになった今、イメージは文章ではなく画面で合わせます。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47472" y="1051560"/>
            <a:ext cx="4114800" cy="1188720"/>
          </a:xfrm>
          <a:prstGeom prst="roundRect">
            <a:avLst>
              <a:gd fmla="val 4615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57200" y="114300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これまで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57200" y="1453896"/>
            <a:ext cx="3895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・要件を文章や手書きの図で合意する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・作ってから初めて画面を見せる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・「思っていたのと違う」が終盤に出る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 rot="5400000">
            <a:off x="4498848" y="157276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672584" y="1051560"/>
            <a:ext cx="4114800" cy="1188720"/>
          </a:xfrm>
          <a:prstGeom prst="roundRect">
            <a:avLst>
              <a:gd fmla="val 4615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782312" y="114300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これから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782312" y="1453896"/>
            <a:ext cx="3895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・打ち合わせから数日で、動くモックを見せる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・お客様に触ってもらいながら合わせる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・ずれが小さいうちに直せる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47472" y="2468880"/>
            <a:ext cx="1965960" cy="868680"/>
          </a:xfrm>
          <a:prstGeom prst="roundRect">
            <a:avLst>
              <a:gd fmla="val 6316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57200" y="2560320"/>
            <a:ext cx="17465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要望を聞く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57200" y="2871216"/>
            <a:ext cx="1746504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業務の流れと困りごとを聞く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 rot="5400000">
            <a:off x="2340864" y="283464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2505456" y="2468880"/>
            <a:ext cx="1965960" cy="868680"/>
          </a:xfrm>
          <a:prstGeom prst="roundRect">
            <a:avLst>
              <a:gd fmla="val 6316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2615184" y="2560320"/>
            <a:ext cx="17465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AIでモックを作る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615184" y="2871216"/>
            <a:ext cx="1746504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数時間〜数日で画面にする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 rot="5400000">
            <a:off x="4498848" y="283464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4663440" y="2468880"/>
            <a:ext cx="1965960" cy="868680"/>
          </a:xfrm>
          <a:prstGeom prst="roundRect">
            <a:avLst>
              <a:gd fmla="val 6316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773168" y="2560320"/>
            <a:ext cx="17465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触ってもらう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773168" y="2871216"/>
            <a:ext cx="1746504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画面を見ながら意見をもらう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 rot="5400000">
            <a:off x="6656832" y="283464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6821424" y="2468880"/>
            <a:ext cx="1965960" cy="868680"/>
          </a:xfrm>
          <a:prstGeom prst="roundRect">
            <a:avLst>
              <a:gd fmla="val 6316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6931152" y="2560320"/>
            <a:ext cx="17465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その場で直す・決める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931152" y="2871216"/>
            <a:ext cx="1746504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直す点と決まったことを残す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47472" y="3474720"/>
            <a:ext cx="8439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注意：モックは見た目のイメージを合わせるためのもの。「もう完成している」と受け取られないよう、本番の品質・費用とは別であることを最初に伝える。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347472" y="4069080"/>
            <a:ext cx="8439912" cy="411480"/>
          </a:xfrm>
          <a:prstGeom prst="roundRect">
            <a:avLst>
              <a:gd fmla="val 11111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347472" y="4069080"/>
            <a:ext cx="8439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画面で合意したことは、ずれにくく、あとで揉めにくい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8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8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③ 相手の宿題　④ 変更と悪い知らせ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224" name="Google Shape;2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/>
          <p:nvPr/>
        </p:nvSpPr>
        <p:spPr>
          <a:xfrm>
            <a:off x="347472" y="603504"/>
            <a:ext cx="118872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347472" y="60350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3・4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627632" y="603504"/>
            <a:ext cx="7159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「誰が・いつまでに」と「影響」を言葉にしておくと、揉めごとが減ります。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47472" y="1051560"/>
            <a:ext cx="4114800" cy="2514600"/>
          </a:xfrm>
          <a:prstGeom prst="roundRect">
            <a:avLst>
              <a:gd fmla="val 2182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57200" y="114300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③ 相手の宿題に期日をつける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57200" y="1453896"/>
            <a:ext cx="38953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・素材の提供・画面の確認・仕様の決定を、誰がいつまでにやるか決める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・遅れたら、こちらの納期にどう響くかを先に伝えておく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・定例の資料に「お願いしたいこと（期日つき）」を毎回のせる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57200" y="2560320"/>
            <a:ext cx="3895344" cy="86868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566928" y="2560320"/>
            <a:ext cx="36758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例：「10/24（金）までにロゴ画像をいただければ、11/7のテスト公開に間に合います」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672584" y="1051560"/>
            <a:ext cx="4114800" cy="2514600"/>
          </a:xfrm>
          <a:prstGeom prst="roundRect">
            <a:avLst>
              <a:gd fmla="val 2182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4782312" y="114300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④ 変更と悪い知らせは、早く・影響つきで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782312" y="1453896"/>
            <a:ext cx="38953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・追加の要望は断らず、費用と納期への影響を添えて選んでもらう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・遅れや技術的な問題は、わかった時点ですぐに伝える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・変更の合意は口頭で済ませず、メールやチャットの文字でも残す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782312" y="2560320"/>
            <a:ext cx="3895344" cy="86868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4892040" y="2560320"/>
            <a:ext cx="36758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例：「この追加は約3日かかります。今回のリリースに入れるか、次回に回すか選んでください」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47472" y="3794760"/>
            <a:ext cx="8439912" cy="411480"/>
          </a:xfrm>
          <a:prstGeom prst="roundRect">
            <a:avLst>
              <a:gd fmla="val 11111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347472" y="3794760"/>
            <a:ext cx="8439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宿題は期日つき、変更は影響つき、悪い知らせは早く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9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9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⑤ 多少のことは許してもらえる関係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249" name="Google Shape;2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5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何かが起きたとき「一緒に解決しよう」と言ってもらえるかは、ふだんの関係で決まります。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347472" y="1097280"/>
            <a:ext cx="2642616" cy="2011680"/>
          </a:xfrm>
          <a:prstGeom prst="roundRect">
            <a:avLst>
              <a:gd fmla="val 2727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57200" y="118872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ふだん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57200" y="1499616"/>
            <a:ext cx="242316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・返信を早くし、こまめに状況を伝える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・悪い知らせほど早く、自分から伝える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・相手の事業や困りごとに関心を持つ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246120" y="1097280"/>
            <a:ext cx="2642616" cy="2011680"/>
          </a:xfrm>
          <a:prstGeom prst="roundRect">
            <a:avLst>
              <a:gd fmla="val 2727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3355848" y="118872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定例で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355848" y="1499616"/>
            <a:ext cx="242316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・顔を見て話す（オンラインならカメラをオン）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・最初の数分は雑談も大事にする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</a:rPr>
              <a:t>・笑顔が大事</a:t>
            </a:r>
            <a:endParaRPr sz="1050">
              <a:solidFill>
                <a:srgbClr val="33333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・相手の意見をその場で資料に書き、聞いていることを見せる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144768" y="1097280"/>
            <a:ext cx="2642616" cy="2011680"/>
          </a:xfrm>
          <a:prstGeom prst="roundRect">
            <a:avLst>
              <a:gd fmla="val 2727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254496" y="118872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大きい案件では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6254496" y="1499616"/>
            <a:ext cx="242316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・キックオフやリリース前など、節目は対面で会う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・会食などで、案件以外の話をする場をつくる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・決める立場の人とも直接話しておく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47472" y="3337560"/>
            <a:ext cx="8439912" cy="411480"/>
          </a:xfrm>
          <a:prstGeom prst="roundRect">
            <a:avLst>
              <a:gd fmla="val 11111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47472" y="3337560"/>
            <a:ext cx="8439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信頼の貯金があれば、トラブルは「炎上」ではなく「相談」になる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1" name="Google Shape;271;p10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0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⑥ 記録を残して、自分たちを守る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273" name="Google Shape;2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0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6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何かあったときに「言った・言わない」の水掛け論にしないよう、証拠が残る状態をつくります。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347472" y="1097280"/>
            <a:ext cx="2642616" cy="1783080"/>
          </a:xfrm>
          <a:prstGeom prst="roundRect">
            <a:avLst>
              <a:gd fmla="val 3077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475488" y="1207008"/>
            <a:ext cx="274320" cy="274320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475488" y="1207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822960" y="12070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録画する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75488" y="1600200"/>
            <a:ext cx="238658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定例は録画しておく（AI議事録アプリでOK）。最初に「記録のため録画します」と一言伝える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/>
          <p:nvPr/>
        </p:nvSpPr>
        <p:spPr>
          <a:xfrm rot="5400000">
            <a:off x="3044952" y="192024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3246120" y="1097280"/>
            <a:ext cx="2642616" cy="1783080"/>
          </a:xfrm>
          <a:prstGeom prst="roundRect">
            <a:avLst>
              <a:gd fmla="val 3077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3374136" y="1207008"/>
            <a:ext cx="274320" cy="274320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3374136" y="1207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721608" y="12070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資料に追記する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3374136" y="1600200"/>
            <a:ext cx="238658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先方からの意見やフィードバックは、定例資料にその場で書き込む。メールやチャットで来た意見も資料に足す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 rot="5400000">
            <a:off x="5943600" y="192024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6144768" y="1097280"/>
            <a:ext cx="2642616" cy="1783080"/>
          </a:xfrm>
          <a:prstGeom prst="roundRect">
            <a:avLst>
              <a:gd fmla="val 3077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6272784" y="1207008"/>
            <a:ext cx="274320" cy="274320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6272784" y="1207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6620256" y="12070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必ず先方に共有する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6272784" y="1600200"/>
            <a:ext cx="238658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定例のあと、議事録と意見入りの資料を先方に送る。「違っていたらご指摘ください」と添える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347472" y="3063240"/>
            <a:ext cx="8439912" cy="868680"/>
          </a:xfrm>
          <a:prstGeom prst="roundRect">
            <a:avLst>
              <a:gd fmla="val 6316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457200" y="3154680"/>
            <a:ext cx="8220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なぜ先方への共有まで必要か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57200" y="3465576"/>
            <a:ext cx="8220456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自分たちだけのメモでは、証拠として弱い。先方に送って異論が出なければ、それが合意の記録になる。録画・議事録・資料は案件ごとに保存場所を1か所に決め、日付をつけて残す。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347472" y="4114800"/>
            <a:ext cx="8439912" cy="411480"/>
          </a:xfrm>
          <a:prstGeom prst="roundRect">
            <a:avLst>
              <a:gd fmla="val 11111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347472" y="4114800"/>
            <a:ext cx="8439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証拠が残っている状態が、何かあったときに自分たちを守る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6" name="Google Shape;306;p11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1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鉄則を毎週の定例で回す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1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鉄則は、毎週の定例で実行して初めて効きます。Part 2で、そのための定例の進め方を見ていきます。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2" name="Google Shape;312;p11"/>
          <p:cNvGraphicFramePr/>
          <p:nvPr/>
        </p:nvGraphicFramePr>
        <p:xfrm>
          <a:off x="347472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{B245CBAB-F9AC-4EA2-8FF3-28AE7FE1501D}</a:tableStyleId>
              </a:tblPr>
              <a:tblGrid>
                <a:gridCol w="2651750"/>
                <a:gridCol w="4599425"/>
                <a:gridCol w="1188725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鉄則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定例でやること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 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ゴールを明確にする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冒頭で「今日は何を決める回か」を言い切る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ポイント 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完成イメージを共有する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キャプチャで予告し、実際の画面を動かして見せる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ポイント 5・6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良好な関係を築く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顔を見て話し、相手の意見をその場で資料に書く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ポイント 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お客様側の役割を明確にする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お願いしたいことを、案と期日をつけて出す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ポイント 8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 進捗を見える形にする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数字と結論の一文で見せ、WBSに「今日の線」を引く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ポイント 3・4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565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 決まったことを記録する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録画し、出た意見はその場で資料にメモ。終わったら先方に共有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ポイント 2・7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13" name="Google Shape;313;p11"/>
          <p:cNvSpPr/>
          <p:nvPr/>
        </p:nvSpPr>
        <p:spPr>
          <a:xfrm>
            <a:off x="347472" y="4069080"/>
            <a:ext cx="8439912" cy="411480"/>
          </a:xfrm>
          <a:prstGeom prst="roundRect">
            <a:avLst>
              <a:gd fmla="val 11111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347472" y="4069080"/>
            <a:ext cx="8439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次のPart 2では、「動く画面を見せて、その場で決める」定例の進め方を学びます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12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2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Part 2　定例のねらい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324" name="Google Shape;3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2"/>
          <p:cNvSpPr/>
          <p:nvPr/>
        </p:nvSpPr>
        <p:spPr>
          <a:xfrm>
            <a:off x="347472" y="621792"/>
            <a:ext cx="8439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定例を「報告の場」ではなく、「動くものを見て、その場で決める場」に変えるための型を学びます。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47472" y="1097280"/>
            <a:ext cx="4114800" cy="2286000"/>
          </a:xfrm>
          <a:prstGeom prst="roundRect">
            <a:avLst>
              <a:gd fmla="val 2400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57200" y="118872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よくある定例のつまずき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457200" y="1499616"/>
            <a:ext cx="3895344" cy="1792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・資料の説明で終わり、相手は画面の「動き」を想像するしかない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・その場で出た意見が、誰かのメモやチャットに散らばって消える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・「検討します」が続き、何も決まらないまま次回になる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・相手側の宿題が曖昧で、気づいたら開発が止まっている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4672584" y="1097280"/>
            <a:ext cx="4114800" cy="2286000"/>
          </a:xfrm>
          <a:prstGeom prst="roundRect">
            <a:avLst>
              <a:gd fmla="val 2400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4782312" y="118872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このやり方で変わること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4782312" y="1499616"/>
            <a:ext cx="3895344" cy="1792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・実際の画面を見せるので、「思っていたのと違う」が早く出る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・意見はその場で資料に書くので、資料がそのまま議事録になる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・決めたいことに「案」があるので、その場で決まる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・相手の宿題が期日つきで残り、次回の冒頭で確認できる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498848" y="2103120"/>
            <a:ext cx="13716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347472" y="3657600"/>
            <a:ext cx="8439912" cy="384048"/>
          </a:xfrm>
          <a:prstGeom prst="roundRect">
            <a:avLst>
              <a:gd fmla="val 11905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347472" y="3657600"/>
            <a:ext cx="8439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お客様から「この進め方がわかりやすい」と評価をいただいたやり方です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" name="Google Shape;342;p13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13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定例の全体像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344" name="Google Shape;3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3"/>
          <p:cNvSpPr/>
          <p:nvPr/>
        </p:nvSpPr>
        <p:spPr>
          <a:xfrm>
            <a:off x="347472" y="621792"/>
            <a:ext cx="8439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資料は上から順に進めるだけで、確認→進捗→画面→日程→決定→宿題 と自然に流れる構成にします。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47472" y="1097280"/>
            <a:ext cx="1243584" cy="1234440"/>
          </a:xfrm>
          <a:prstGeom prst="roundRect">
            <a:avLst>
              <a:gd fmla="val 4444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347472" y="1207008"/>
            <a:ext cx="12435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前回の確認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02336" y="1554480"/>
            <a:ext cx="11338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前回決まったことを1枚で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/>
          <p:nvPr/>
        </p:nvSpPr>
        <p:spPr>
          <a:xfrm rot="5400000">
            <a:off x="1616659" y="164134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1786738" y="1097280"/>
            <a:ext cx="1243584" cy="1234440"/>
          </a:xfrm>
          <a:prstGeom prst="roundRect">
            <a:avLst>
              <a:gd fmla="val 4444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1786738" y="1207008"/>
            <a:ext cx="12435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進捗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1841602" y="1554480"/>
            <a:ext cx="11338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数字と結論の一文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スケジュール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/>
          <p:nvPr/>
        </p:nvSpPr>
        <p:spPr>
          <a:xfrm rot="5400000">
            <a:off x="3055925" y="164134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3226003" y="1097280"/>
            <a:ext cx="1243584" cy="1234440"/>
          </a:xfrm>
          <a:prstGeom prst="roundRect">
            <a:avLst>
              <a:gd fmla="val 4444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3226003" y="1207008"/>
            <a:ext cx="12435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画面の紹介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3280867" y="1554480"/>
            <a:ext cx="11338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キャプチャ＋実画面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その場で意見をメモ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"/>
          <p:cNvSpPr/>
          <p:nvPr/>
        </p:nvSpPr>
        <p:spPr>
          <a:xfrm rot="5400000">
            <a:off x="4495190" y="164134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4665269" y="1097280"/>
            <a:ext cx="1243584" cy="1234440"/>
          </a:xfrm>
          <a:prstGeom prst="roundRect">
            <a:avLst>
              <a:gd fmla="val 4444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4665269" y="1207008"/>
            <a:ext cx="12435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日程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4720133" y="1554480"/>
            <a:ext cx="11338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リリース日の提示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守るための条件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/>
          <p:nvPr/>
        </p:nvSpPr>
        <p:spPr>
          <a:xfrm rot="5400000">
            <a:off x="5934456" y="164134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6104534" y="1097280"/>
            <a:ext cx="1243584" cy="1234440"/>
          </a:xfrm>
          <a:prstGeom prst="roundRect">
            <a:avLst>
              <a:gd fmla="val 4444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6104534" y="1207008"/>
            <a:ext cx="12435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確認・決定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6159398" y="1554480"/>
            <a:ext cx="11338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案つきで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その場で決める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 rot="5400000">
            <a:off x="7373722" y="164134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7543800" y="1097280"/>
            <a:ext cx="1243584" cy="1234440"/>
          </a:xfrm>
          <a:prstGeom prst="roundRect">
            <a:avLst>
              <a:gd fmla="val 4444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7543800" y="1207008"/>
            <a:ext cx="12435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次のアクション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7598664" y="1554480"/>
            <a:ext cx="11338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誰が・何を・期日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次回見せるもの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347472" y="2560320"/>
            <a:ext cx="8439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いちばん時間をかけるのは「画面の紹介」。当日はこの3つをくり返します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347472" y="2926080"/>
            <a:ext cx="2651760" cy="1051560"/>
          </a:xfrm>
          <a:prstGeom prst="roundRect">
            <a:avLst>
              <a:gd fmla="val 5217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457200" y="3017520"/>
            <a:ext cx="24323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1. スライドで予告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57200" y="3328416"/>
            <a:ext cx="243230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キャプチャと「見ていただきたい点」で、これから何を見るかを伝える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/>
          <p:nvPr/>
        </p:nvSpPr>
        <p:spPr>
          <a:xfrm rot="5400000">
            <a:off x="3049524" y="338328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3241548" y="2926080"/>
            <a:ext cx="2651760" cy="1051560"/>
          </a:xfrm>
          <a:prstGeom prst="roundRect">
            <a:avLst>
              <a:gd fmla="val 5217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3351276" y="3017520"/>
            <a:ext cx="24323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2. 実画面に切り替え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3351276" y="3328416"/>
            <a:ext cx="243230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テスト環境を実際に操作し、画面の「動き」を見てもらう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 rot="5400000">
            <a:off x="5943600" y="338328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6135624" y="2926080"/>
            <a:ext cx="2651760" cy="1051560"/>
          </a:xfrm>
          <a:prstGeom prst="roundRect">
            <a:avLst>
              <a:gd fmla="val 5217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6245352" y="3017520"/>
            <a:ext cx="24323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3. 資料にメモ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6245352" y="3328416"/>
            <a:ext cx="243230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スライドに戻り、出た意見を四角の図形にその場で書く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347472" y="4069080"/>
            <a:ext cx="8439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↻ 画面ごとにくり返す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9" name="Google Shape;389;p14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14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進め方の8つのポイント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391" name="Google Shape;3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4"/>
          <p:cNvSpPr/>
          <p:nvPr/>
        </p:nvSpPr>
        <p:spPr>
          <a:xfrm>
            <a:off x="347472" y="621792"/>
            <a:ext cx="8439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資料のつくり方（1〜5）と、当日の進め方（6〜8）に分けて見ていきます。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347472" y="102412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資料のつくり方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672584" y="102412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当日の進め方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713232" y="1325880"/>
            <a:ext cx="3749040" cy="438912"/>
          </a:xfrm>
          <a:prstGeom prst="roundRect">
            <a:avLst>
              <a:gd fmla="val 12500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347472" y="1399032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347472" y="13990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850392" y="1325880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目的とゴールを冒頭で宣言する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713232" y="1874520"/>
            <a:ext cx="3749040" cy="438912"/>
          </a:xfrm>
          <a:prstGeom prst="roundRect">
            <a:avLst>
              <a:gd fmla="val 12500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347472" y="1947672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347472" y="19476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850392" y="1874520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前回決まったことから始める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713232" y="2423160"/>
            <a:ext cx="3749040" cy="438912"/>
          </a:xfrm>
          <a:prstGeom prst="roundRect">
            <a:avLst>
              <a:gd fmla="val 12500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347472" y="2496312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347472" y="24963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850392" y="2423160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進捗は「数字＋結論の一文」で見せる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713232" y="2971800"/>
            <a:ext cx="3749040" cy="438912"/>
          </a:xfrm>
          <a:prstGeom prst="roundRect">
            <a:avLst>
              <a:gd fmla="val 12500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347472" y="3044952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347472" y="30449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850392" y="2971800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スケジュールは色と「今日の線」で見せる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713232" y="3520440"/>
            <a:ext cx="3749040" cy="438912"/>
          </a:xfrm>
          <a:prstGeom prst="roundRect">
            <a:avLst>
              <a:gd fmla="val 12500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347472" y="3593592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347472" y="359359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850392" y="3520440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画面はキャプチャ＋「見ていただきたい点」で予告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5038344" y="1325880"/>
            <a:ext cx="3749040" cy="438912"/>
          </a:xfrm>
          <a:prstGeom prst="roundRect">
            <a:avLst>
              <a:gd fmla="val 12500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4672584" y="1399032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4"/>
          <p:cNvSpPr/>
          <p:nvPr/>
        </p:nvSpPr>
        <p:spPr>
          <a:xfrm>
            <a:off x="4672584" y="13990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5175504" y="1325880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スライドと実画面を往復して、動きを見せる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5038344" y="1874520"/>
            <a:ext cx="3749040" cy="438912"/>
          </a:xfrm>
          <a:prstGeom prst="roundRect">
            <a:avLst>
              <a:gd fmla="val 12500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4672584" y="1947672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4672584" y="19476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5175504" y="1874520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意見はその場で、資料に四角のメモで残す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5038344" y="2423160"/>
            <a:ext cx="3749040" cy="438912"/>
          </a:xfrm>
          <a:prstGeom prst="roundRect">
            <a:avLst>
              <a:gd fmla="val 12500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4672584" y="2496312"/>
            <a:ext cx="292608" cy="292608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4672584" y="24963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5175504" y="2423160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決めたいことは「案」つき、宿題は期日つきで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4672584" y="3017520"/>
            <a:ext cx="4114800" cy="1170432"/>
          </a:xfrm>
          <a:prstGeom prst="roundRect">
            <a:avLst>
              <a:gd fmla="val 4688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4782312" y="310896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合言葉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782312" y="3419856"/>
            <a:ext cx="389534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「見せて、書いて、決める」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説明を聞いてもらう場ではなく、相手に判断してもらう場にする。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5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7" name="Google Shape;437;p15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15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目的とゴールを冒頭で宣言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439" name="Google Shape;4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5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最初のスライドで「今日は何を決める回か」を一文で言い切り、時間配分も見せます。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347472" y="1033272"/>
            <a:ext cx="5065776" cy="286573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h-02.png" id="444" name="Google Shape;4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051560"/>
            <a:ext cx="5029200" cy="2829154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5"/>
          <p:cNvSpPr/>
          <p:nvPr/>
        </p:nvSpPr>
        <p:spPr>
          <a:xfrm>
            <a:off x="365760" y="392643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実際の資料：本日の目的とアジェンダ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5623560" y="1033272"/>
            <a:ext cx="3163824" cy="1600200"/>
          </a:xfrm>
          <a:prstGeom prst="roundRect">
            <a:avLst>
              <a:gd fmla="val 3429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5733288" y="1124712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やっていること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5733288" y="1435608"/>
            <a:ext cx="2944368" cy="1106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・リード文で回の目的を一文で：「画面を見ていただき、リリース日と残りの確認事項を決める回」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・議題ごとに時間（5分・20分…）を書く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・下の帯に「ゴール」を具体的に書く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5623560" y="2724912"/>
            <a:ext cx="3163824" cy="1170432"/>
          </a:xfrm>
          <a:prstGeom prst="roundRect">
            <a:avLst>
              <a:gd fmla="val 4688" name="adj"/>
            </a:avLst>
          </a:prstGeom>
          <a:solidFill>
            <a:srgbClr val="EAF4FE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5733288" y="2816352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なぜ効くか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5733288" y="3127248"/>
            <a:ext cx="294436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相手も「今日は決める日だ」と構えて参加できる。脱線しても、ゴールに戻す理由になる。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347472" y="4315968"/>
            <a:ext cx="8439912" cy="384048"/>
          </a:xfrm>
          <a:prstGeom prst="roundRect">
            <a:avLst>
              <a:gd fmla="val 11905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347472" y="4315968"/>
            <a:ext cx="8439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ゴールは「〇〇の合意」「〇〇の回答」など、終わったか判定できる形で書く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6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1" name="Google Shape;461;p16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16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前回決まったことから始める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463" name="Google Shape;4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6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前回の決定事項を1枚の表にして、最初の5分で確認します。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347472" y="1033272"/>
            <a:ext cx="5065776" cy="286573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h-03.png" id="468" name="Google Shape;4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051560"/>
            <a:ext cx="5029200" cy="282915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6"/>
          <p:cNvSpPr/>
          <p:nvPr/>
        </p:nvSpPr>
        <p:spPr>
          <a:xfrm>
            <a:off x="365760" y="392643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実際の資料：前回（10/7）決まったこと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5623560" y="1033272"/>
            <a:ext cx="3163824" cy="1600200"/>
          </a:xfrm>
          <a:prstGeom prst="roundRect">
            <a:avLst>
              <a:gd fmla="val 3429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5733288" y="1124712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やっていること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5733288" y="1435608"/>
            <a:ext cx="2944368" cy="1106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・テーマ別に「決まったこと」を表で並べる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・リード文で「この内容で機能一覧を作り、実装を進めている」と、決定がどう使われたかを示す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5623560" y="2724912"/>
            <a:ext cx="3163824" cy="1170432"/>
          </a:xfrm>
          <a:prstGeom prst="roundRect">
            <a:avLst>
              <a:gd fmla="val 4688" name="adj"/>
            </a:avLst>
          </a:prstGeom>
          <a:solidFill>
            <a:srgbClr val="EAF4FE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6"/>
          <p:cNvSpPr/>
          <p:nvPr/>
        </p:nvSpPr>
        <p:spPr>
          <a:xfrm>
            <a:off x="5733288" y="2816352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なぜ効くか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5733288" y="3127248"/>
            <a:ext cx="294436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決定を毎回積み上げるので、後から「そんな話だったか」と蒸し返されにくい。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347472" y="4315968"/>
            <a:ext cx="8439912" cy="384048"/>
          </a:xfrm>
          <a:prstGeom prst="roundRect">
            <a:avLst>
              <a:gd fmla="val 11905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6"/>
          <p:cNvSpPr/>
          <p:nvPr/>
        </p:nvSpPr>
        <p:spPr>
          <a:xfrm>
            <a:off x="347472" y="4315968"/>
            <a:ext cx="8439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前回メモした内容が、そのまま今回の1枚目の材料になる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7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7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5" name="Google Shape;485;p17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6" name="Google Shape;486;p17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進捗は数字＋結論の一文で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487" name="Google Shape;4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7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7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「順調です」ではなく、数字・結論・根拠の3点セットで見せます。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347472" y="1033272"/>
            <a:ext cx="5065776" cy="286573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h-04.png" id="492" name="Google Shape;4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051560"/>
            <a:ext cx="5029200" cy="2829154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7"/>
          <p:cNvSpPr/>
          <p:nvPr/>
        </p:nvSpPr>
        <p:spPr>
          <a:xfrm>
            <a:off x="365760" y="392643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実際の資料：全体の進捗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5623560" y="1033272"/>
            <a:ext cx="3163824" cy="1600200"/>
          </a:xfrm>
          <a:prstGeom prst="roundRect">
            <a:avLst>
              <a:gd fmla="val 3429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5733288" y="1124712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やっていること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5733288" y="1435608"/>
            <a:ext cx="2944368" cy="1106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・大きな数字：「39 / 66 機能に着手済み」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・下の帯に結論の一文：「おおむね順調（一部前倒し）」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・気をつけていることは赤で2点だけ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・注記で数字の根拠（何で確認したか）を書く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5623560" y="2724912"/>
            <a:ext cx="3163824" cy="1170432"/>
          </a:xfrm>
          <a:prstGeom prst="roundRect">
            <a:avLst>
              <a:gd fmla="val 4688" name="adj"/>
            </a:avLst>
          </a:prstGeom>
          <a:solidFill>
            <a:srgbClr val="EAF4FE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7"/>
          <p:cNvSpPr/>
          <p:nvPr/>
        </p:nvSpPr>
        <p:spPr>
          <a:xfrm>
            <a:off x="5733288" y="2816352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なぜ効くか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5733288" y="3127248"/>
            <a:ext cx="294436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相手は細かい表を読まなくても状況がわかる。根拠があるので数字を信じてもらえる。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8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8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7" name="Google Shape;507;p18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18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スケジュールは色と「今日の線」で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509" name="Google Shape;5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8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8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WBSは細かさより、「どこまで済んで、今日どこにいるか」が一目でわかることを優先します。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347472" y="1033272"/>
            <a:ext cx="5065776" cy="286573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h-05.png" id="514" name="Google Shape;51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051560"/>
            <a:ext cx="5029200" cy="282915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8"/>
          <p:cNvSpPr/>
          <p:nvPr/>
        </p:nvSpPr>
        <p:spPr>
          <a:xfrm>
            <a:off x="365760" y="392643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実際の資料：スケジュール（WBS）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5623560" y="1033272"/>
            <a:ext cx="3163824" cy="1600200"/>
          </a:xfrm>
          <a:prstGeom prst="roundRect">
            <a:avLst>
              <a:gd fmla="val 3429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8"/>
          <p:cNvSpPr/>
          <p:nvPr/>
        </p:nvSpPr>
        <p:spPr>
          <a:xfrm>
            <a:off x="5733288" y="1124712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やっていること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5733288" y="1435608"/>
            <a:ext cx="2944368" cy="1106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・済んだ部分は緑、相手と一緒に準備するものは別の色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・「本日 10/14」の縦線を引く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・バーの横に「本日合意」「AWSアカウント待ち」など状態を一言で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・リリース日は赤の◆で目立たせる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5623560" y="2724912"/>
            <a:ext cx="3163824" cy="1170432"/>
          </a:xfrm>
          <a:prstGeom prst="roundRect">
            <a:avLst>
              <a:gd fmla="val 4688" name="adj"/>
            </a:avLst>
          </a:prstGeom>
          <a:solidFill>
            <a:srgbClr val="EAF4FE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8"/>
          <p:cNvSpPr/>
          <p:nvPr/>
        </p:nvSpPr>
        <p:spPr>
          <a:xfrm>
            <a:off x="5733288" y="2816352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なぜ効くか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5733288" y="3127248"/>
            <a:ext cx="294436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相手待ちの作業が見えるので、「こちらの準備が遅れるとリリースが動く」ことが自然に伝わる。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9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9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9" name="Google Shape;529;p19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p19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画面はキャプチャで予告する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531" name="Google Shape;5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9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9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5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画面ごとに1枚。キャプチャを並べ、右に「見ていただきたい点」を書いておきます。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347472" y="1033272"/>
            <a:ext cx="5065776" cy="286573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h-07.png" id="536" name="Google Shape;5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051560"/>
            <a:ext cx="5029200" cy="282915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9"/>
          <p:cNvSpPr/>
          <p:nvPr/>
        </p:nvSpPr>
        <p:spPr>
          <a:xfrm>
            <a:off x="365760" y="392643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実際の資料：画面① サイトの入口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5623560" y="1033272"/>
            <a:ext cx="3163824" cy="1600200"/>
          </a:xfrm>
          <a:prstGeom prst="roundRect">
            <a:avLst>
              <a:gd fmla="val 3429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9"/>
          <p:cNvSpPr/>
          <p:nvPr/>
        </p:nvSpPr>
        <p:spPr>
          <a:xfrm>
            <a:off x="5733288" y="1124712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やっていること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5733288" y="1435608"/>
            <a:ext cx="2944368" cy="1106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・画面の流れの順にキャプチャを3枚ほど並べる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・「見ていただきたい点」に、確認してほしいことと仮の部分を書く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・ダミーのデータ・仮の文言は「ダミー」「仮」と明記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5623560" y="2724912"/>
            <a:ext cx="3163824" cy="1170432"/>
          </a:xfrm>
          <a:prstGeom prst="roundRect">
            <a:avLst>
              <a:gd fmla="val 4688" name="adj"/>
            </a:avLst>
          </a:prstGeom>
          <a:solidFill>
            <a:srgbClr val="EAF4FE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9"/>
          <p:cNvSpPr/>
          <p:nvPr/>
        </p:nvSpPr>
        <p:spPr>
          <a:xfrm>
            <a:off x="5733288" y="2816352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なぜ効くか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5733288" y="3127248"/>
            <a:ext cx="294436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見るポイントが先にわかるので、実画面を見たときの意見が具体的になる。仮の部分への指摘で時間を使わない。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347472" y="4315968"/>
            <a:ext cx="8439912" cy="384048"/>
          </a:xfrm>
          <a:prstGeom prst="roundRect">
            <a:avLst>
              <a:gd fmla="val 11905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9"/>
          <p:cNvSpPr/>
          <p:nvPr/>
        </p:nvSpPr>
        <p:spPr>
          <a:xfrm>
            <a:off x="347472" y="4315968"/>
            <a:ext cx="8439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キャプチャは「予告」と「記録」。本番の確認は次の実画面で行う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0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0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3" name="Google Shape;553;p20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4" name="Google Shape;554;p20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スライドと実画面を往復する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555" name="Google Shape;5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0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0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6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1画面ごとに「スライド → 実画面 → スライドに戻る」をくり返し、動きを見てもらいます。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347472" y="1051560"/>
            <a:ext cx="2651760" cy="1280160"/>
          </a:xfrm>
          <a:prstGeom prst="roundRect">
            <a:avLst>
              <a:gd fmla="val 4286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0"/>
          <p:cNvSpPr/>
          <p:nvPr/>
        </p:nvSpPr>
        <p:spPr>
          <a:xfrm>
            <a:off x="457200" y="1143000"/>
            <a:ext cx="274320" cy="274320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0"/>
          <p:cNvSpPr/>
          <p:nvPr/>
        </p:nvSpPr>
        <p:spPr>
          <a:xfrm>
            <a:off x="457200" y="1143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804672" y="11430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スライドを映す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457200" y="1508760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このパートで見る画面と「見ていただきたい点」を読み上げる（30秒ほど）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/>
          <p:nvPr/>
        </p:nvSpPr>
        <p:spPr>
          <a:xfrm rot="5400000">
            <a:off x="3049524" y="161848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0"/>
          <p:cNvSpPr/>
          <p:nvPr/>
        </p:nvSpPr>
        <p:spPr>
          <a:xfrm>
            <a:off x="3241548" y="1051560"/>
            <a:ext cx="2651760" cy="1280160"/>
          </a:xfrm>
          <a:prstGeom prst="roundRect">
            <a:avLst>
              <a:gd fmla="val 4286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0"/>
          <p:cNvSpPr/>
          <p:nvPr/>
        </p:nvSpPr>
        <p:spPr>
          <a:xfrm>
            <a:off x="3351276" y="1143000"/>
            <a:ext cx="274320" cy="274320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3351276" y="1143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3698748" y="11430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実画面に切り替え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3351276" y="1508760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テスト環境を実際に操作。ボタンを押す・入力する・次の画面に進む、まで見せる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0"/>
          <p:cNvSpPr/>
          <p:nvPr/>
        </p:nvSpPr>
        <p:spPr>
          <a:xfrm rot="5400000">
            <a:off x="5943600" y="161848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0"/>
          <p:cNvSpPr/>
          <p:nvPr/>
        </p:nvSpPr>
        <p:spPr>
          <a:xfrm>
            <a:off x="6135624" y="1051560"/>
            <a:ext cx="2651760" cy="1280160"/>
          </a:xfrm>
          <a:prstGeom prst="roundRect">
            <a:avLst>
              <a:gd fmla="val 4286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0"/>
          <p:cNvSpPr/>
          <p:nvPr/>
        </p:nvSpPr>
        <p:spPr>
          <a:xfrm>
            <a:off x="6245352" y="1143000"/>
            <a:ext cx="274320" cy="274320"/>
          </a:xfrm>
          <a:prstGeom prst="ellipse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0"/>
          <p:cNvSpPr/>
          <p:nvPr/>
        </p:nvSpPr>
        <p:spPr>
          <a:xfrm>
            <a:off x="6245352" y="1143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6592824" y="11430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スライドに戻る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6245352" y="1508760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出た意見をその場で四角のメモに書き、読み上げて確認する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347472" y="2514600"/>
            <a:ext cx="8439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事前の準備と当日のコツ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347472" y="2834640"/>
            <a:ext cx="4114800" cy="1508760"/>
          </a:xfrm>
          <a:prstGeom prst="roundRect">
            <a:avLst>
              <a:gd fmla="val 3636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0"/>
          <p:cNvSpPr/>
          <p:nvPr/>
        </p:nvSpPr>
        <p:spPr>
          <a:xfrm>
            <a:off x="457200" y="292608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事前に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457200" y="3236976"/>
            <a:ext cx="3895344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・見せる画面をブラウザのタブに順番どおり開いておく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・テスト用アカウントでログインし、見せるデータを入れておく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・テスト環境のURLを資料に書いておく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4672584" y="2834640"/>
            <a:ext cx="4114800" cy="1508760"/>
          </a:xfrm>
          <a:prstGeom prst="roundRect">
            <a:avLst>
              <a:gd fmla="val 3636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0"/>
          <p:cNvSpPr/>
          <p:nvPr/>
        </p:nvSpPr>
        <p:spPr>
          <a:xfrm>
            <a:off x="4782312" y="292608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当日に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4782312" y="3236976"/>
            <a:ext cx="3895344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・押さないボタンは先に言う（例：「決済に進む」は押さない）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・まだ動かない部分は「準備中」と先に言い、期待をずらさない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・相手が触りたそうなら操作を代わってもらう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1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1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0" name="Google Shape;590;p21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1" name="Google Shape;591;p21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意見はその場で資料にメモ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592" name="Google Shape;5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1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1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7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スライドに四角の図形（薄い黄色）を置き、出た意見をその場で書き込みます。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347472" y="1033272"/>
            <a:ext cx="5431536" cy="23225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wc-10.png" id="597" name="Google Shape;5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051560"/>
            <a:ext cx="539496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1"/>
          <p:cNvSpPr/>
          <p:nvPr/>
        </p:nvSpPr>
        <p:spPr>
          <a:xfrm>
            <a:off x="365760" y="3383280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実際の資料：画面④ 予約（右の黄色い四角が当日のメモ）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5943600" y="1033272"/>
            <a:ext cx="2843784" cy="2514600"/>
          </a:xfrm>
          <a:prstGeom prst="roundRect">
            <a:avLst>
              <a:gd fmla="val 2182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1"/>
          <p:cNvSpPr/>
          <p:nvPr/>
        </p:nvSpPr>
        <p:spPr>
          <a:xfrm>
            <a:off x="6053328" y="1124712"/>
            <a:ext cx="2624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やっていること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1"/>
          <p:cNvSpPr/>
          <p:nvPr/>
        </p:nvSpPr>
        <p:spPr>
          <a:xfrm>
            <a:off x="6053328" y="1435608"/>
            <a:ext cx="2624328" cy="20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・画面共有したまま、編集画面で四角を置いて書く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・スライドの右端に寄せ、本文はなるべく隠さない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・相手の言葉をなるべくそのまま書く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・書いたら読み上げて「これで合っていますか」と確認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347472" y="3657600"/>
            <a:ext cx="8439912" cy="731520"/>
          </a:xfrm>
          <a:prstGeom prst="roundRect">
            <a:avLst>
              <a:gd fmla="val 7500" name="adj"/>
            </a:avLst>
          </a:prstGeom>
          <a:solidFill>
            <a:srgbClr val="EAF4FE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1"/>
          <p:cNvSpPr/>
          <p:nvPr/>
        </p:nvSpPr>
        <p:spPr>
          <a:xfrm>
            <a:off x="457200" y="3749040"/>
            <a:ext cx="8220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なぜ効くか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457200" y="4059936"/>
            <a:ext cx="82204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どの画面への意見かが一目でわかり、言った・言わないが起きない。会議が終わった時点で、メモ入りの資料がそのまま議事録の材料になる。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2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2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2" name="Google Shape;612;p22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3" name="Google Shape;613;p22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メモの書き方：実例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614" name="Google Shape;6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2"/>
          <p:cNvSpPr/>
          <p:nvPr/>
        </p:nvSpPr>
        <p:spPr>
          <a:xfrm>
            <a:off x="347472" y="621792"/>
            <a:ext cx="8439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決まったこと・相手の宿題・今後の要望・やらないことが、読み返してわかるように書きます。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347472" y="1005840"/>
            <a:ext cx="4105656" cy="17602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wc-08.png" id="617" name="Google Shape;6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024128"/>
            <a:ext cx="4069080" cy="1723644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22"/>
          <p:cNvSpPr/>
          <p:nvPr/>
        </p:nvSpPr>
        <p:spPr>
          <a:xfrm>
            <a:off x="365760" y="2793492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画面② 口数・日時：画面の改善点と相手側の判断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4681728" y="1005840"/>
            <a:ext cx="4105656" cy="17602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wc-17.png" id="620" name="Google Shape;62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0016" y="1024128"/>
            <a:ext cx="4069080" cy="1723644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2"/>
          <p:cNvSpPr/>
          <p:nvPr/>
        </p:nvSpPr>
        <p:spPr>
          <a:xfrm>
            <a:off x="4700016" y="2793492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確認したいこと：その場で決まった方針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347472" y="3063240"/>
            <a:ext cx="8439912" cy="301752"/>
          </a:xfrm>
          <a:prstGeom prst="rect">
            <a:avLst/>
          </a:prstGeom>
          <a:solidFill>
            <a:srgbClr val="F4F8FC"/>
          </a:solidFill>
          <a:ln cap="flat" cmpd="sng" w="9525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2"/>
          <p:cNvSpPr/>
          <p:nvPr/>
        </p:nvSpPr>
        <p:spPr>
          <a:xfrm>
            <a:off x="438912" y="3063240"/>
            <a:ext cx="1371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決まったこと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1828800" y="3063240"/>
            <a:ext cx="6858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「投薬されなかったら、一律で請求は行われない」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347472" y="3401568"/>
            <a:ext cx="8439912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2"/>
          <p:cNvSpPr/>
          <p:nvPr/>
        </p:nvSpPr>
        <p:spPr>
          <a:xfrm>
            <a:off x="438912" y="3401568"/>
            <a:ext cx="1371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相手の宿題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1828800" y="3401568"/>
            <a:ext cx="6858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「予約上限は検討いただく（アマテラス様）」と誰のボールかを書く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2"/>
          <p:cNvSpPr/>
          <p:nvPr/>
        </p:nvSpPr>
        <p:spPr>
          <a:xfrm>
            <a:off x="347472" y="3739896"/>
            <a:ext cx="8439912" cy="301752"/>
          </a:xfrm>
          <a:prstGeom prst="rect">
            <a:avLst/>
          </a:prstGeom>
          <a:solidFill>
            <a:srgbClr val="F4F8FC"/>
          </a:solidFill>
          <a:ln cap="flat" cmpd="sng" w="9525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2"/>
          <p:cNvSpPr/>
          <p:nvPr/>
        </p:nvSpPr>
        <p:spPr>
          <a:xfrm>
            <a:off x="438912" y="3739896"/>
            <a:ext cx="1371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今後の要望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1828800" y="3739896"/>
            <a:ext cx="6858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「アップセルの仕組み入れたい（今後）」と初回の対象外を区別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2"/>
          <p:cNvSpPr/>
          <p:nvPr/>
        </p:nvSpPr>
        <p:spPr>
          <a:xfrm>
            <a:off x="347472" y="4078224"/>
            <a:ext cx="8439912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2"/>
          <p:cNvSpPr/>
          <p:nvPr/>
        </p:nvSpPr>
        <p:spPr>
          <a:xfrm>
            <a:off x="438912" y="4078224"/>
            <a:ext cx="1371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やらないこと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1828800" y="4078224"/>
            <a:ext cx="6858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「クリニック変更は機能をつくらない（キャンセル→再予約）」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3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3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1" name="Google Shape;641;p23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23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決めることは案つきで出す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643" name="Google Shape;6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23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3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ポイント 8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3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「どうしますか？」と聞かず、こちらの案を添えて「この案でよいか」を聞きます。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3"/>
          <p:cNvSpPr/>
          <p:nvPr/>
        </p:nvSpPr>
        <p:spPr>
          <a:xfrm>
            <a:off x="347472" y="1033272"/>
            <a:ext cx="4105656" cy="232531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h-21.png" id="648" name="Google Shape;6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051560"/>
            <a:ext cx="4069080" cy="2288743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23"/>
          <p:cNvSpPr/>
          <p:nvPr/>
        </p:nvSpPr>
        <p:spPr>
          <a:xfrm>
            <a:off x="365760" y="3386023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実際の資料：本日決めたいこと（各行に「案」）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4681728" y="1033272"/>
            <a:ext cx="4105656" cy="232531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h-19.png" id="651" name="Google Shape;65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0016" y="1051560"/>
            <a:ext cx="4069080" cy="2288743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23"/>
          <p:cNvSpPr/>
          <p:nvPr/>
        </p:nvSpPr>
        <p:spPr>
          <a:xfrm>
            <a:off x="4700016" y="3386023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実際の資料：Amateras様にお願いしたいこと（期日つき）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347472" y="3639312"/>
            <a:ext cx="4114800" cy="914400"/>
          </a:xfrm>
          <a:prstGeom prst="roundRect">
            <a:avLst>
              <a:gd fmla="val 6000" name="adj"/>
            </a:avLst>
          </a:prstGeom>
          <a:solidFill>
            <a:srgbClr val="EAF4FE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3"/>
          <p:cNvSpPr/>
          <p:nvPr/>
        </p:nvSpPr>
        <p:spPr>
          <a:xfrm>
            <a:off x="457200" y="3730752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決めたいこと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457200" y="4041648"/>
            <a:ext cx="38953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論点・理由・案を1行に。相手は「はい／いいえ」で答えられるので、その場で決まる。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4672584" y="3639312"/>
            <a:ext cx="4114800" cy="914400"/>
          </a:xfrm>
          <a:prstGeom prst="roundRect">
            <a:avLst>
              <a:gd fmla="val 6000" name="adj"/>
            </a:avLst>
          </a:prstGeom>
          <a:solidFill>
            <a:srgbClr val="EAF4FE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3"/>
          <p:cNvSpPr/>
          <p:nvPr/>
        </p:nvSpPr>
        <p:spPr>
          <a:xfrm>
            <a:off x="4782312" y="3730752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相手にお願いしたいこと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3"/>
          <p:cNvSpPr/>
          <p:nvPr/>
        </p:nvSpPr>
        <p:spPr>
          <a:xfrm>
            <a:off x="4782312" y="4041648"/>
            <a:ext cx="38953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期日と担当者を明記し「リリース日を守る条件」として示す。最後に「次のアクション」と次回見せるものを予告。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4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4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6" name="Google Shape;666;p24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7" name="Google Shape;667;p24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定例のあとにやること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668" name="Google Shape;66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4"/>
          <p:cNvSpPr/>
          <p:nvPr/>
        </p:nvSpPr>
        <p:spPr>
          <a:xfrm>
            <a:off x="347472" y="621792"/>
            <a:ext cx="8439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メモ入りの資料を起点に反映すれば、次回の資料の土台が自然にできます。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4"/>
          <p:cNvSpPr/>
          <p:nvPr/>
        </p:nvSpPr>
        <p:spPr>
          <a:xfrm>
            <a:off x="347472" y="1143000"/>
            <a:ext cx="1920240" cy="1463040"/>
          </a:xfrm>
          <a:prstGeom prst="roundRect">
            <a:avLst>
              <a:gd fmla="val 3750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4"/>
          <p:cNvSpPr/>
          <p:nvPr/>
        </p:nvSpPr>
        <p:spPr>
          <a:xfrm>
            <a:off x="347472" y="12527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メモ入り資料を保存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4"/>
          <p:cNvSpPr/>
          <p:nvPr/>
        </p:nvSpPr>
        <p:spPr>
          <a:xfrm>
            <a:off x="457200" y="1645920"/>
            <a:ext cx="17007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当日のメモが入った状態の資料を残す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4"/>
          <p:cNvSpPr/>
          <p:nvPr/>
        </p:nvSpPr>
        <p:spPr>
          <a:xfrm rot="5400000">
            <a:off x="2322576" y="180136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4"/>
          <p:cNvSpPr/>
          <p:nvPr/>
        </p:nvSpPr>
        <p:spPr>
          <a:xfrm>
            <a:off x="2521001" y="1143000"/>
            <a:ext cx="1920240" cy="1463040"/>
          </a:xfrm>
          <a:prstGeom prst="roundRect">
            <a:avLst>
              <a:gd fmla="val 3750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4"/>
          <p:cNvSpPr/>
          <p:nvPr/>
        </p:nvSpPr>
        <p:spPr>
          <a:xfrm>
            <a:off x="2521001" y="12527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議事録・一覧に反映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2630729" y="1645920"/>
            <a:ext cx="17007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決定・宿題・要望を、議事録と機能一覧・確認事項に移す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4"/>
          <p:cNvSpPr/>
          <p:nvPr/>
        </p:nvSpPr>
        <p:spPr>
          <a:xfrm rot="5400000">
            <a:off x="4496105" y="180136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4"/>
          <p:cNvSpPr/>
          <p:nvPr/>
        </p:nvSpPr>
        <p:spPr>
          <a:xfrm>
            <a:off x="4694530" y="1143000"/>
            <a:ext cx="1920240" cy="1463040"/>
          </a:xfrm>
          <a:prstGeom prst="roundRect">
            <a:avLst>
              <a:gd fmla="val 3750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4"/>
          <p:cNvSpPr/>
          <p:nvPr/>
        </p:nvSpPr>
        <p:spPr>
          <a:xfrm>
            <a:off x="4694530" y="12527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相手に共有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4"/>
          <p:cNvSpPr/>
          <p:nvPr/>
        </p:nvSpPr>
        <p:spPr>
          <a:xfrm>
            <a:off x="4804258" y="1645920"/>
            <a:ext cx="17007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決定事項と宿題（期日つき）を送る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4"/>
          <p:cNvSpPr/>
          <p:nvPr/>
        </p:nvSpPr>
        <p:spPr>
          <a:xfrm rot="5400000">
            <a:off x="6669634" y="180136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4"/>
          <p:cNvSpPr/>
          <p:nvPr/>
        </p:nvSpPr>
        <p:spPr>
          <a:xfrm>
            <a:off x="6868058" y="1143000"/>
            <a:ext cx="1920240" cy="1463040"/>
          </a:xfrm>
          <a:prstGeom prst="roundRect">
            <a:avLst>
              <a:gd fmla="val 3750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4"/>
          <p:cNvSpPr/>
          <p:nvPr/>
        </p:nvSpPr>
        <p:spPr>
          <a:xfrm>
            <a:off x="6868058" y="12527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次回の1枚目へ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4"/>
          <p:cNvSpPr/>
          <p:nvPr/>
        </p:nvSpPr>
        <p:spPr>
          <a:xfrm>
            <a:off x="6977786" y="1645920"/>
            <a:ext cx="17007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決まったことを「前回決まったこと」に転記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4"/>
          <p:cNvSpPr/>
          <p:nvPr/>
        </p:nvSpPr>
        <p:spPr>
          <a:xfrm>
            <a:off x="347472" y="2834640"/>
            <a:ext cx="8439912" cy="1188720"/>
          </a:xfrm>
          <a:prstGeom prst="roundRect">
            <a:avLst>
              <a:gd fmla="val 4615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4"/>
          <p:cNvSpPr/>
          <p:nvPr/>
        </p:nvSpPr>
        <p:spPr>
          <a:xfrm>
            <a:off x="457200" y="2926080"/>
            <a:ext cx="8220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回すほど楽になる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4"/>
          <p:cNvSpPr/>
          <p:nvPr/>
        </p:nvSpPr>
        <p:spPr>
          <a:xfrm>
            <a:off x="457200" y="3236976"/>
            <a:ext cx="822045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「前回決まったこと」→「進捗」→「画面」→「メモ」→「次回の前回決まったこと」と、毎回の定例がつながる。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相手の宿題は「お願いしたいこと」表で次回も確認し、止まっている案件を放置しない。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4"/>
          <p:cNvSpPr/>
          <p:nvPr/>
        </p:nvSpPr>
        <p:spPr>
          <a:xfrm>
            <a:off x="347472" y="4206240"/>
            <a:ext cx="8439912" cy="384048"/>
          </a:xfrm>
          <a:prstGeom prst="roundRect">
            <a:avLst>
              <a:gd fmla="val 11905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4"/>
          <p:cNvSpPr/>
          <p:nvPr/>
        </p:nvSpPr>
        <p:spPr>
          <a:xfrm>
            <a:off x="347472" y="4206240"/>
            <a:ext cx="8439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資料をつくる・見せる・書く・残す を1本の資料で完結させる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5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5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7" name="Google Shape;697;p25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8" name="Google Shape;698;p25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資料はClaudeで作る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699" name="Google Shape;6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25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5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5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Claudeがテスト環境にログインし、画面を撮りながら整理して資料にします。人は材料を渡し、最後に判断します。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5"/>
          <p:cNvSpPr/>
          <p:nvPr/>
        </p:nvSpPr>
        <p:spPr>
          <a:xfrm>
            <a:off x="347472" y="114300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5"/>
          <p:cNvSpPr/>
          <p:nvPr/>
        </p:nvSpPr>
        <p:spPr>
          <a:xfrm>
            <a:off x="347472" y="123444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5"/>
          <p:cNvSpPr/>
          <p:nvPr/>
        </p:nvSpPr>
        <p:spPr>
          <a:xfrm>
            <a:off x="347472" y="155448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材料を渡す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5"/>
          <p:cNvSpPr/>
          <p:nvPr/>
        </p:nvSpPr>
        <p:spPr>
          <a:xfrm>
            <a:off x="420624" y="187452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前回の決定・機能一覧・WBS・テスト環境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347472" y="245059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9F2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BFD9F2"/>
                </a:solidFill>
                <a:latin typeface="Arial"/>
                <a:ea typeface="Arial"/>
                <a:cs typeface="Arial"/>
                <a:sym typeface="Arial"/>
              </a:rPr>
              <a:t>人がやる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5"/>
          <p:cNvSpPr/>
          <p:nvPr/>
        </p:nvSpPr>
        <p:spPr>
          <a:xfrm rot="5400000">
            <a:off x="1616659" y="186994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5"/>
          <p:cNvSpPr/>
          <p:nvPr/>
        </p:nvSpPr>
        <p:spPr>
          <a:xfrm>
            <a:off x="1786738" y="114300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5"/>
          <p:cNvSpPr/>
          <p:nvPr/>
        </p:nvSpPr>
        <p:spPr>
          <a:xfrm>
            <a:off x="1786738" y="123444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5"/>
          <p:cNvSpPr/>
          <p:nvPr/>
        </p:nvSpPr>
        <p:spPr>
          <a:xfrm>
            <a:off x="1786738" y="155448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ログインして撮影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5"/>
          <p:cNvSpPr/>
          <p:nvPr/>
        </p:nvSpPr>
        <p:spPr>
          <a:xfrm>
            <a:off x="1859890" y="187452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飼い主側・本部側の画面を順に撮る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1786738" y="245059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Claudeがやる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5"/>
          <p:cNvSpPr/>
          <p:nvPr/>
        </p:nvSpPr>
        <p:spPr>
          <a:xfrm rot="5400000">
            <a:off x="3055925" y="186994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5"/>
          <p:cNvSpPr/>
          <p:nvPr/>
        </p:nvSpPr>
        <p:spPr>
          <a:xfrm>
            <a:off x="3226003" y="114300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5"/>
          <p:cNvSpPr/>
          <p:nvPr/>
        </p:nvSpPr>
        <p:spPr>
          <a:xfrm>
            <a:off x="3226003" y="123444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5"/>
          <p:cNvSpPr/>
          <p:nvPr/>
        </p:nvSpPr>
        <p:spPr>
          <a:xfrm>
            <a:off x="3226003" y="155448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気づきを整理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5"/>
          <p:cNvSpPr/>
          <p:nvPr/>
        </p:nvSpPr>
        <p:spPr>
          <a:xfrm>
            <a:off x="3299155" y="187452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要件や前回の決定との違いを書き出す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5"/>
          <p:cNvSpPr/>
          <p:nvPr/>
        </p:nvSpPr>
        <p:spPr>
          <a:xfrm>
            <a:off x="3226003" y="245059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Claudeがやる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5"/>
          <p:cNvSpPr/>
          <p:nvPr/>
        </p:nvSpPr>
        <p:spPr>
          <a:xfrm rot="5400000">
            <a:off x="4495190" y="186994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5"/>
          <p:cNvSpPr/>
          <p:nvPr/>
        </p:nvSpPr>
        <p:spPr>
          <a:xfrm>
            <a:off x="4665269" y="114300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5"/>
          <p:cNvSpPr/>
          <p:nvPr/>
        </p:nvSpPr>
        <p:spPr>
          <a:xfrm>
            <a:off x="4665269" y="123444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5"/>
          <p:cNvSpPr/>
          <p:nvPr/>
        </p:nvSpPr>
        <p:spPr>
          <a:xfrm>
            <a:off x="4665269" y="155448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進捗を数字に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5"/>
          <p:cNvSpPr/>
          <p:nvPr/>
        </p:nvSpPr>
        <p:spPr>
          <a:xfrm>
            <a:off x="4738421" y="187452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機能一覧に進捗を入れ、WBSに今日の線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5"/>
          <p:cNvSpPr/>
          <p:nvPr/>
        </p:nvSpPr>
        <p:spPr>
          <a:xfrm>
            <a:off x="4665269" y="245059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Claudeがやる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5"/>
          <p:cNvSpPr/>
          <p:nvPr/>
        </p:nvSpPr>
        <p:spPr>
          <a:xfrm rot="5400000">
            <a:off x="5934456" y="186994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5"/>
          <p:cNvSpPr/>
          <p:nvPr/>
        </p:nvSpPr>
        <p:spPr>
          <a:xfrm>
            <a:off x="6104534" y="114300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5"/>
          <p:cNvSpPr/>
          <p:nvPr/>
        </p:nvSpPr>
        <p:spPr>
          <a:xfrm>
            <a:off x="6104534" y="123444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5"/>
          <p:cNvSpPr/>
          <p:nvPr/>
        </p:nvSpPr>
        <p:spPr>
          <a:xfrm>
            <a:off x="6104534" y="155448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スライドにする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5"/>
          <p:cNvSpPr/>
          <p:nvPr/>
        </p:nvSpPr>
        <p:spPr>
          <a:xfrm>
            <a:off x="6177686" y="187452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決まった構成・テンプレートで組む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5"/>
          <p:cNvSpPr/>
          <p:nvPr/>
        </p:nvSpPr>
        <p:spPr>
          <a:xfrm>
            <a:off x="6104534" y="245059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Claudeがやる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5"/>
          <p:cNvSpPr/>
          <p:nvPr/>
        </p:nvSpPr>
        <p:spPr>
          <a:xfrm rot="5400000">
            <a:off x="7373722" y="186994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5"/>
          <p:cNvSpPr/>
          <p:nvPr/>
        </p:nvSpPr>
        <p:spPr>
          <a:xfrm>
            <a:off x="7543800" y="114300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5"/>
          <p:cNvSpPr/>
          <p:nvPr/>
        </p:nvSpPr>
        <p:spPr>
          <a:xfrm>
            <a:off x="7543800" y="123444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5"/>
          <p:cNvSpPr/>
          <p:nvPr/>
        </p:nvSpPr>
        <p:spPr>
          <a:xfrm>
            <a:off x="7543800" y="1554480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見て絞る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5"/>
          <p:cNvSpPr/>
          <p:nvPr/>
        </p:nvSpPr>
        <p:spPr>
          <a:xfrm>
            <a:off x="7616952" y="187452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論点を絞り、言い方を直す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5"/>
          <p:cNvSpPr/>
          <p:nvPr/>
        </p:nvSpPr>
        <p:spPr>
          <a:xfrm>
            <a:off x="7543800" y="245059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9F2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BFD9F2"/>
                </a:solidFill>
                <a:latin typeface="Arial"/>
                <a:ea typeface="Arial"/>
                <a:cs typeface="Arial"/>
                <a:sym typeface="Arial"/>
              </a:rPr>
              <a:t>人がやる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5"/>
          <p:cNvSpPr/>
          <p:nvPr/>
        </p:nvSpPr>
        <p:spPr>
          <a:xfrm>
            <a:off x="347472" y="2971800"/>
            <a:ext cx="8439912" cy="1051560"/>
          </a:xfrm>
          <a:prstGeom prst="roundRect">
            <a:avLst>
              <a:gd fmla="val 5217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5"/>
          <p:cNvSpPr/>
          <p:nvPr/>
        </p:nvSpPr>
        <p:spPr>
          <a:xfrm>
            <a:off x="457200" y="3063240"/>
            <a:ext cx="8220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実績（AWP 10/14定例）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5"/>
          <p:cNvSpPr/>
          <p:nvPr/>
        </p:nvSpPr>
        <p:spPr>
          <a:xfrm>
            <a:off x="457200" y="3374136"/>
            <a:ext cx="8220456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テスト環境の実画面キャプチャ約30枚を撮影し、23枚の定例資料と、進捗を反映した機能一覧を作成。前日に作り、当日、飼い主側のテスト用アカウントで追加撮影して更新した。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5"/>
          <p:cNvSpPr/>
          <p:nvPr/>
        </p:nvSpPr>
        <p:spPr>
          <a:xfrm>
            <a:off x="347472" y="4206240"/>
            <a:ext cx="8439912" cy="384048"/>
          </a:xfrm>
          <a:prstGeom prst="roundRect">
            <a:avLst>
              <a:gd fmla="val 11905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5"/>
          <p:cNvSpPr/>
          <p:nvPr/>
        </p:nvSpPr>
        <p:spPr>
          <a:xfrm>
            <a:off x="347472" y="4206240"/>
            <a:ext cx="8439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「撮る・数える・並べる」はClaudeに任せ、人は「何を相手に聞くか」に集中する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6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6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0" name="Google Shape;750;p26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1" name="Google Shape;751;p26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手順1　材料を渡す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752" name="Google Shape;7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26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6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 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6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資料の中身は、ほぼこの材料で決まります。プロジェクトのフォルダにそろえておきます。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56" name="Google Shape;756;p26"/>
          <p:cNvGraphicFramePr/>
          <p:nvPr/>
        </p:nvGraphicFramePr>
        <p:xfrm>
          <a:off x="347472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{B245CBAB-F9AC-4EA2-8FF3-28AE7FE1501D}</a:tableStyleId>
              </a:tblPr>
              <a:tblGrid>
                <a:gridCol w="3474725"/>
                <a:gridCol w="4965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渡すもの</a:t>
                      </a:r>
                      <a:endParaRPr sz="105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資料のどこに使うか</a:t>
                      </a:r>
                      <a:endParaRPr sz="105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前回の議事録・決定事項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「前回決まったこと」の表、今回確認すること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機能一覧（初回リリースの範囲）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進捗の数字（〇 / 66機能）、画面ごとの説明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WBS（スケジュール）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今日の線、済んだ部分、リリース日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テスト環境のURLとテスト用アカウント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画面キャプチャ（飼い主側・本部側の両方）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エンジニアの進捗報告（Slack等）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「動いている／一部／これから」の判定の根拠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相手への確認事項・宿題の一覧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「お願いしたいこと」「確認事項の回答状況」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757" name="Google Shape;757;p26"/>
          <p:cNvSpPr/>
          <p:nvPr/>
        </p:nvSpPr>
        <p:spPr>
          <a:xfrm>
            <a:off x="347472" y="3767328"/>
            <a:ext cx="8439912" cy="621792"/>
          </a:xfrm>
          <a:prstGeom prst="roundRect">
            <a:avLst>
              <a:gd fmla="val 8824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6"/>
          <p:cNvSpPr/>
          <p:nvPr/>
        </p:nvSpPr>
        <p:spPr>
          <a:xfrm>
            <a:off x="457200" y="376732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アカウントのIDとパスワードはチャットや資料に書かず、1Passwordなど決まった場所から渡す。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7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7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6" name="Google Shape;766;p27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7" name="Google Shape;767;p27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手順2　ログインして撮影する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768" name="Google Shape;7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27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7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 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7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Claudeがブラウザを操作してログインし、予約の流れの順に画面を撮っていきます。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7"/>
          <p:cNvSpPr/>
          <p:nvPr/>
        </p:nvSpPr>
        <p:spPr>
          <a:xfrm>
            <a:off x="393192" y="1033272"/>
            <a:ext cx="1198536" cy="25511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01_top.png" id="773" name="Google Shape;77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51560"/>
            <a:ext cx="116196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27"/>
          <p:cNvSpPr/>
          <p:nvPr/>
        </p:nvSpPr>
        <p:spPr>
          <a:xfrm>
            <a:off x="411480" y="3611880"/>
            <a:ext cx="1161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01_top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7"/>
          <p:cNvSpPr/>
          <p:nvPr/>
        </p:nvSpPr>
        <p:spPr>
          <a:xfrm>
            <a:off x="1719744" y="1033272"/>
            <a:ext cx="1198536" cy="25511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04b_kuchisu.png" id="776" name="Google Shape;77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8032" y="1051560"/>
            <a:ext cx="116196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27"/>
          <p:cNvSpPr/>
          <p:nvPr/>
        </p:nvSpPr>
        <p:spPr>
          <a:xfrm>
            <a:off x="1738032" y="3611880"/>
            <a:ext cx="1161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04b_kuchisu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7"/>
          <p:cNvSpPr/>
          <p:nvPr/>
        </p:nvSpPr>
        <p:spPr>
          <a:xfrm>
            <a:off x="3046295" y="1033272"/>
            <a:ext cx="1198536" cy="25511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25_reserve_interview.png" id="779" name="Google Shape;77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4583" y="1051560"/>
            <a:ext cx="116196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27"/>
          <p:cNvSpPr/>
          <p:nvPr/>
        </p:nvSpPr>
        <p:spPr>
          <a:xfrm>
            <a:off x="3064583" y="3611880"/>
            <a:ext cx="1161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25_reserve_interview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7"/>
          <p:cNvSpPr/>
          <p:nvPr/>
        </p:nvSpPr>
        <p:spPr>
          <a:xfrm>
            <a:off x="4418567" y="1033272"/>
            <a:ext cx="1865376" cy="11795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10_admin_dashboard.png" id="782" name="Google Shape;78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6855" y="1051560"/>
            <a:ext cx="18288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27"/>
          <p:cNvSpPr/>
          <p:nvPr/>
        </p:nvSpPr>
        <p:spPr>
          <a:xfrm>
            <a:off x="4436855" y="22402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10_admin_dashboard（本部側）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7"/>
          <p:cNvSpPr/>
          <p:nvPr/>
        </p:nvSpPr>
        <p:spPr>
          <a:xfrm>
            <a:off x="4436855" y="25603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実際に撮ったキャプチャ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（AWPテスト環境・データはダミー）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7"/>
          <p:cNvSpPr/>
          <p:nvPr/>
        </p:nvSpPr>
        <p:spPr>
          <a:xfrm>
            <a:off x="6446520" y="1033272"/>
            <a:ext cx="2340864" cy="3383280"/>
          </a:xfrm>
          <a:prstGeom prst="roundRect">
            <a:avLst>
              <a:gd fmla="val 2344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7"/>
          <p:cNvSpPr/>
          <p:nvPr/>
        </p:nvSpPr>
        <p:spPr>
          <a:xfrm>
            <a:off x="6556248" y="1124712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撮り方のルール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7"/>
          <p:cNvSpPr/>
          <p:nvPr/>
        </p:nvSpPr>
        <p:spPr>
          <a:xfrm>
            <a:off x="6556248" y="1435608"/>
            <a:ext cx="2121408" cy="2889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・飼い主側はスマホ幅、本部の管理画面はPC幅で撮る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・予約の流れの順に番号をつけて保存（01_top、04b_kuchisu…）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・縦に長い画面は全体版（_full）も撮る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・日付つきのフォルダにまとめる（キャプチャ_2026-10-13）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・飼い主側・本部側それぞれのテスト用アカウントで入る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8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8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5" name="Google Shape;795;p28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6" name="Google Shape;796;p28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撮影のときに守ること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797" name="Google Shape;7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28"/>
          <p:cNvSpPr/>
          <p:nvPr/>
        </p:nvSpPr>
        <p:spPr>
          <a:xfrm>
            <a:off x="347472" y="621792"/>
            <a:ext cx="8439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テスト環境でも、データを変えない・お金を動かさない・秘密を残さない、を指示に必ず入れます。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8"/>
          <p:cNvSpPr/>
          <p:nvPr/>
        </p:nvSpPr>
        <p:spPr>
          <a:xfrm>
            <a:off x="347472" y="1097280"/>
            <a:ext cx="4114800" cy="1188720"/>
          </a:xfrm>
          <a:prstGeom prst="roundRect">
            <a:avLst>
              <a:gd fmla="val 4615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8"/>
          <p:cNvSpPr/>
          <p:nvPr/>
        </p:nvSpPr>
        <p:spPr>
          <a:xfrm>
            <a:off x="457200" y="118872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見るだけにする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8"/>
          <p:cNvSpPr/>
          <p:nvPr/>
        </p:nvSpPr>
        <p:spPr>
          <a:xfrm>
            <a:off x="457200" y="1499616"/>
            <a:ext cx="3895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登録・編集・削除はしない。画面を開いて撮るだけ。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8"/>
          <p:cNvSpPr/>
          <p:nvPr/>
        </p:nvSpPr>
        <p:spPr>
          <a:xfrm>
            <a:off x="4672584" y="1097280"/>
            <a:ext cx="4114800" cy="1188720"/>
          </a:xfrm>
          <a:prstGeom prst="roundRect">
            <a:avLst>
              <a:gd fmla="val 4615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8"/>
          <p:cNvSpPr/>
          <p:nvPr/>
        </p:nvSpPr>
        <p:spPr>
          <a:xfrm>
            <a:off x="4782312" y="118872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決済は押さない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8"/>
          <p:cNvSpPr/>
          <p:nvPr/>
        </p:nvSpPr>
        <p:spPr>
          <a:xfrm>
            <a:off x="4782312" y="1499616"/>
            <a:ext cx="3895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予約はお支払いの確認画面まで。「決済に進む」は押さない。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8"/>
          <p:cNvSpPr/>
          <p:nvPr/>
        </p:nvSpPr>
        <p:spPr>
          <a:xfrm>
            <a:off x="347472" y="2423160"/>
            <a:ext cx="4114800" cy="1188720"/>
          </a:xfrm>
          <a:prstGeom prst="roundRect">
            <a:avLst>
              <a:gd fmla="val 4615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8"/>
          <p:cNvSpPr/>
          <p:nvPr/>
        </p:nvSpPr>
        <p:spPr>
          <a:xfrm>
            <a:off x="457200" y="251460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IDとパスワードを残さない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8"/>
          <p:cNvSpPr/>
          <p:nvPr/>
        </p:nvSpPr>
        <p:spPr>
          <a:xfrm>
            <a:off x="457200" y="2825496"/>
            <a:ext cx="3895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資料・ログ・チャットに書かない。認証情報が写った画像は保存しない。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8"/>
          <p:cNvSpPr/>
          <p:nvPr/>
        </p:nvSpPr>
        <p:spPr>
          <a:xfrm>
            <a:off x="4672584" y="2423160"/>
            <a:ext cx="4114800" cy="1188720"/>
          </a:xfrm>
          <a:prstGeom prst="roundRect">
            <a:avLst>
              <a:gd fmla="val 4615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8"/>
          <p:cNvSpPr/>
          <p:nvPr/>
        </p:nvSpPr>
        <p:spPr>
          <a:xfrm>
            <a:off x="4782312" y="251460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ダミーか確かめる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8"/>
          <p:cNvSpPr/>
          <p:nvPr/>
        </p:nvSpPr>
        <p:spPr>
          <a:xfrm>
            <a:off x="4782312" y="2825496"/>
            <a:ext cx="3895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写っている病院・名前・写真がダミーであることを確認し、資料にも「ダミー」と書く。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8"/>
          <p:cNvSpPr/>
          <p:nvPr/>
        </p:nvSpPr>
        <p:spPr>
          <a:xfrm>
            <a:off x="347472" y="3840480"/>
            <a:ext cx="8439912" cy="411480"/>
          </a:xfrm>
          <a:prstGeom prst="roundRect">
            <a:avLst>
              <a:gd fmla="val 11111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8"/>
          <p:cNvSpPr/>
          <p:nvPr/>
        </p:nvSpPr>
        <p:spPr>
          <a:xfrm>
            <a:off x="347472" y="3840480"/>
            <a:ext cx="8439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やったこと・やらなかったこと（例：決済は押していない）は、作業記録と資料のリード文に残す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9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9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0" name="Google Shape;820;p29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1" name="Google Shape;821;p29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手順3　撮りながら気づきを整理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822" name="Google Shape;8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29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9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 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29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画面を触るとわかる「要件や前回の決定とのズレ」を書き出し、資料のどこで聞くかを決めます。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26" name="Google Shape;826;p29"/>
          <p:cNvGraphicFramePr/>
          <p:nvPr/>
        </p:nvGraphicFramePr>
        <p:xfrm>
          <a:off x="347472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{B245CBAB-F9AC-4EA2-8FF3-28AE7FE1501D}</a:tableStyleId>
              </a:tblPr>
              <a:tblGrid>
                <a:gridCol w="3108950"/>
                <a:gridCol w="2679200"/>
                <a:gridCol w="26517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画面で見えたこと</a:t>
                      </a:r>
                      <a:endParaRPr sz="105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何が問題か</a:t>
                      </a:r>
                      <a:endParaRPr sz="105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資料での扱い</a:t>
                      </a:r>
                      <a:endParaRPr sz="105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予約日が約2か月先まで選べる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与信は25日以内に売上確定が必要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本日決めたいこと（案：25日先まで）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出荷後のキャンセル・来院なしの扱いが画面にない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請求するかどうかが未定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画面を見て確認したいこと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料金が全病院で同じ表示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全国一律か、病院ごとか未定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画面を見て確認したいこと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ワクチン「接種している」で予約が止まる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問診で止める条件が未確定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後日回答でよいものとして注記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「施術」と「投与」の言い方が混在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表記ゆれ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</a:rPr>
                        <a:t>後日回答でよいものとして注記</a:t>
                      </a:r>
                      <a:endParaRPr sz="10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27" name="Google Shape;827;p29"/>
          <p:cNvSpPr/>
          <p:nvPr/>
        </p:nvSpPr>
        <p:spPr>
          <a:xfrm>
            <a:off x="347472" y="3794760"/>
            <a:ext cx="8439912" cy="411480"/>
          </a:xfrm>
          <a:prstGeom prst="roundRect">
            <a:avLst>
              <a:gd fmla="val 11111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9"/>
          <p:cNvSpPr/>
          <p:nvPr/>
        </p:nvSpPr>
        <p:spPr>
          <a:xfrm>
            <a:off x="347472" y="3794760"/>
            <a:ext cx="8439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設計書を読むだけでは出てこない論点が、実画面を触ると見つかる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0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0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6" name="Google Shape;836;p30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7" name="Google Shape;837;p30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手順4　進捗を数字にする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838" name="Google Shape;8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30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0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 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0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機能一覧に進捗の列を足し、画面で確かめた結果から数字とスケジュールを出します。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0"/>
          <p:cNvSpPr/>
          <p:nvPr/>
        </p:nvSpPr>
        <p:spPr>
          <a:xfrm>
            <a:off x="347472" y="1051560"/>
            <a:ext cx="1920240" cy="1325880"/>
          </a:xfrm>
          <a:prstGeom prst="roundRect">
            <a:avLst>
              <a:gd fmla="val 4138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0"/>
          <p:cNvSpPr/>
          <p:nvPr/>
        </p:nvSpPr>
        <p:spPr>
          <a:xfrm>
            <a:off x="347472" y="11430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機能一覧に列を足す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0"/>
          <p:cNvSpPr/>
          <p:nvPr/>
        </p:nvSpPr>
        <p:spPr>
          <a:xfrm>
            <a:off x="457200" y="1481328"/>
            <a:ext cx="170078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進捗（動いている／一部できている／これから／外部待ち）、確認方法、メモ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0"/>
          <p:cNvSpPr/>
          <p:nvPr/>
        </p:nvSpPr>
        <p:spPr>
          <a:xfrm rot="5400000">
            <a:off x="2322576" y="164592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0"/>
          <p:cNvSpPr/>
          <p:nvPr/>
        </p:nvSpPr>
        <p:spPr>
          <a:xfrm>
            <a:off x="2521001" y="1051560"/>
            <a:ext cx="1920240" cy="1325880"/>
          </a:xfrm>
          <a:prstGeom prst="roundRect">
            <a:avLst>
              <a:gd fmla="val 4138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0"/>
          <p:cNvSpPr/>
          <p:nvPr/>
        </p:nvSpPr>
        <p:spPr>
          <a:xfrm>
            <a:off x="2521001" y="11430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画面で判定する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0"/>
          <p:cNvSpPr/>
          <p:nvPr/>
        </p:nvSpPr>
        <p:spPr>
          <a:xfrm>
            <a:off x="2630729" y="1481328"/>
            <a:ext cx="170078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撮影した画面とエンジニアの報告から、1機能ずつ判定する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0"/>
          <p:cNvSpPr/>
          <p:nvPr/>
        </p:nvSpPr>
        <p:spPr>
          <a:xfrm rot="5400000">
            <a:off x="4496105" y="164592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0"/>
          <p:cNvSpPr/>
          <p:nvPr/>
        </p:nvSpPr>
        <p:spPr>
          <a:xfrm>
            <a:off x="4694530" y="1051560"/>
            <a:ext cx="1920240" cy="1325880"/>
          </a:xfrm>
          <a:prstGeom prst="roundRect">
            <a:avLst>
              <a:gd fmla="val 4138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0"/>
          <p:cNvSpPr/>
          <p:nvPr/>
        </p:nvSpPr>
        <p:spPr>
          <a:xfrm>
            <a:off x="4694530" y="11430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数字にまとめる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0"/>
          <p:cNvSpPr/>
          <p:nvPr/>
        </p:nvSpPr>
        <p:spPr>
          <a:xfrm>
            <a:off x="4804258" y="1481328"/>
            <a:ext cx="170078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「39 / 66 機能に着手済み」と内訳を集計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30"/>
          <p:cNvSpPr/>
          <p:nvPr/>
        </p:nvSpPr>
        <p:spPr>
          <a:xfrm rot="5400000">
            <a:off x="6669634" y="1645920"/>
            <a:ext cx="146304" cy="146304"/>
          </a:xfrm>
          <a:prstGeom prst="triangle">
            <a:avLst>
              <a:gd fmla="val 50000" name="adj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0"/>
          <p:cNvSpPr/>
          <p:nvPr/>
        </p:nvSpPr>
        <p:spPr>
          <a:xfrm>
            <a:off x="6868058" y="1051560"/>
            <a:ext cx="1920240" cy="1325880"/>
          </a:xfrm>
          <a:prstGeom prst="roundRect">
            <a:avLst>
              <a:gd fmla="val 4138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0"/>
          <p:cNvSpPr/>
          <p:nvPr/>
        </p:nvSpPr>
        <p:spPr>
          <a:xfrm>
            <a:off x="6868058" y="11430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WBSに反映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0"/>
          <p:cNvSpPr/>
          <p:nvPr/>
        </p:nvSpPr>
        <p:spPr>
          <a:xfrm>
            <a:off x="6977786" y="1481328"/>
            <a:ext cx="170078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済んだ部分を緑に、今日の線を引く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0"/>
          <p:cNvSpPr/>
          <p:nvPr/>
        </p:nvSpPr>
        <p:spPr>
          <a:xfrm>
            <a:off x="347472" y="2542032"/>
            <a:ext cx="3328416" cy="18882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takaakikonaka-Library-CloudStorage-GoogleDrive-takaaki-konaka-becheerz-com--------BeCheerz-09-----------Obsidian-konaka/025d0c96-9ac2-4bbf-ad48-739200c61d25/scratchpad/render/h-04.png" id="858" name="Google Shape;85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560320"/>
            <a:ext cx="3291840" cy="185166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30"/>
          <p:cNvSpPr/>
          <p:nvPr/>
        </p:nvSpPr>
        <p:spPr>
          <a:xfrm>
            <a:off x="365760" y="445770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できあがった「全体の進捗」スライド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0"/>
          <p:cNvSpPr/>
          <p:nvPr/>
        </p:nvSpPr>
        <p:spPr>
          <a:xfrm>
            <a:off x="3886200" y="2542032"/>
            <a:ext cx="4901184" cy="1892808"/>
          </a:xfrm>
          <a:prstGeom prst="roundRect">
            <a:avLst>
              <a:gd fmla="val 2899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0"/>
          <p:cNvSpPr/>
          <p:nvPr/>
        </p:nvSpPr>
        <p:spPr>
          <a:xfrm>
            <a:off x="3995928" y="2633472"/>
            <a:ext cx="4681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ポイント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0"/>
          <p:cNvSpPr/>
          <p:nvPr/>
        </p:nvSpPr>
        <p:spPr>
          <a:xfrm>
            <a:off x="3995928" y="2944368"/>
            <a:ext cx="4681728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・数字の根拠（テスト環境の画面と開発メンバーの報告、〇月〇日時点）を注記に書く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・画面で確かめられないもの（メール送信など）は「外部待ち」と分けて数える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・進捗を入れた機能一覧も、資料と一緒に先方へ共有できる形で保存する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1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1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1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31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手順5　Claudeへの指示の例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872" name="Google Shape;8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31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1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 5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31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構成とルールを最初に渡すと、毎回同じ型の資料ができます。そのまま使える例です。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1"/>
          <p:cNvSpPr/>
          <p:nvPr/>
        </p:nvSpPr>
        <p:spPr>
          <a:xfrm>
            <a:off x="347472" y="1051560"/>
            <a:ext cx="8439912" cy="3337560"/>
          </a:xfrm>
          <a:prstGeom prst="roundRect">
            <a:avLst>
              <a:gd fmla="val 1644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1"/>
          <p:cNvSpPr/>
          <p:nvPr/>
        </p:nvSpPr>
        <p:spPr>
          <a:xfrm>
            <a:off x="530352" y="1143000"/>
            <a:ext cx="813816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〇〇の10/14定例資料を作ってください。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■ 撮影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・テスト環境（URL）に、飼い主側と本部側のテスト用アカウントでログインし、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　主な画面を流れの順に撮って output/キャプチャ_日付/ に番号つきで保存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・見るだけ。登録・編集・削除はしない。決済は確認画面までで、押さない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・IDとパスワードは資料・ログに書かない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・撮りながら、要件や前回の決定と違う点・気になる点をメモ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■ 進捗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・機能一覧に進捗列を足して集計し、WBSに今日の線を入れる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■ 構成（piponのテンプレートで）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前回決まったこと → 全体の進捗 → スケジュール → 画面①〜（キャプチャ＋見ていただきたい点）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→ 画面を見て確認したいこと → 日程 → お願いしたいこと（期日つき）→ 本日決めたいこと（案つき）→ 次のアクション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2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2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2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6" name="Google Shape;886;p32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手順6　人が見て絞る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887" name="Google Shape;88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32"/>
          <p:cNvSpPr/>
          <p:nvPr/>
        </p:nvSpPr>
        <p:spPr>
          <a:xfrm>
            <a:off x="347472" y="603504"/>
            <a:ext cx="868680" cy="274320"/>
          </a:xfrm>
          <a:prstGeom prst="roundRect">
            <a:avLst>
              <a:gd fmla="val 16667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2"/>
          <p:cNvSpPr/>
          <p:nvPr/>
        </p:nvSpPr>
        <p:spPr>
          <a:xfrm>
            <a:off x="347472" y="60350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 6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2"/>
          <p:cNvSpPr/>
          <p:nvPr/>
        </p:nvSpPr>
        <p:spPr>
          <a:xfrm>
            <a:off x="1307592" y="603504"/>
            <a:ext cx="7479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Claudeの案をそのまま出さず、「当日、相手に何を聞くか」を人が決めます。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2"/>
          <p:cNvSpPr/>
          <p:nvPr/>
        </p:nvSpPr>
        <p:spPr>
          <a:xfrm>
            <a:off x="347472" y="1051560"/>
            <a:ext cx="4114800" cy="1920240"/>
          </a:xfrm>
          <a:prstGeom prst="roundRect">
            <a:avLst>
              <a:gd fmla="val 2857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2"/>
          <p:cNvSpPr/>
          <p:nvPr/>
        </p:nvSpPr>
        <p:spPr>
          <a:xfrm>
            <a:off x="457200" y="114300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論点を絞る（実例）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2"/>
          <p:cNvSpPr/>
          <p:nvPr/>
        </p:nvSpPr>
        <p:spPr>
          <a:xfrm>
            <a:off x="457200" y="1453896"/>
            <a:ext cx="3895344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・「画面を見て確認したいこと」を6件から3件に絞った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・前回合意済みのもの（祝日の扱い）は外した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・急がないものは「後日のご回答で大丈夫です」と注記にまとめた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・別のスライドと重なる確認事項は1か所にまとめた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32"/>
          <p:cNvSpPr/>
          <p:nvPr/>
        </p:nvSpPr>
        <p:spPr>
          <a:xfrm>
            <a:off x="4672584" y="1051560"/>
            <a:ext cx="4114800" cy="1920240"/>
          </a:xfrm>
          <a:prstGeom prst="roundRect">
            <a:avLst>
              <a:gd fmla="val 2857" name="adj"/>
            </a:avLst>
          </a:prstGeom>
          <a:solidFill>
            <a:srgbClr val="F4F8FC"/>
          </a:solidFill>
          <a:ln cap="flat" cmpd="sng" w="12700">
            <a:solidFill>
              <a:srgbClr val="CFE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2"/>
          <p:cNvSpPr/>
          <p:nvPr/>
        </p:nvSpPr>
        <p:spPr>
          <a:xfrm>
            <a:off x="4782312" y="1143000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言い方を直す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32"/>
          <p:cNvSpPr/>
          <p:nvPr/>
        </p:nvSpPr>
        <p:spPr>
          <a:xfrm>
            <a:off x="4782312" y="1453896"/>
            <a:ext cx="3895344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・専門用語を相手の言葉に（例：与信の期限 →「何日先まで受け付けるか」）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・「できていない」ではなく「準備中（12月）」と時期をつける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・決めたいことには必ず「案」を書く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32"/>
          <p:cNvSpPr/>
          <p:nvPr/>
        </p:nvSpPr>
        <p:spPr>
          <a:xfrm>
            <a:off x="347472" y="3154680"/>
            <a:ext cx="8439912" cy="1234440"/>
          </a:xfrm>
          <a:prstGeom prst="roundRect">
            <a:avLst>
              <a:gd fmla="val 4444" name="adj"/>
            </a:avLst>
          </a:prstGeom>
          <a:solidFill>
            <a:srgbClr val="FBED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2"/>
          <p:cNvSpPr/>
          <p:nvPr/>
        </p:nvSpPr>
        <p:spPr>
          <a:xfrm>
            <a:off x="457200" y="3246120"/>
            <a:ext cx="8220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版の管理に注意（実際に起きたこと）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2"/>
          <p:cNvSpPr/>
          <p:nvPr/>
        </p:nvSpPr>
        <p:spPr>
          <a:xfrm>
            <a:off x="457200" y="3557016"/>
            <a:ext cx="8220456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・当日に追加撮影して更新した際、前日に足した別の作業がいったん消えた → 作り直して戻した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・更新は日付つきの別名で保存し、前の版との違いを確認してから差し替える。会議中にメモした版も別名で残す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3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3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3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8" name="Google Shape;908;p33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チェックリスト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909" name="Google Shape;9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33"/>
          <p:cNvSpPr/>
          <p:nvPr/>
        </p:nvSpPr>
        <p:spPr>
          <a:xfrm>
            <a:off x="347472" y="621792"/>
            <a:ext cx="8439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資料の準備・当日・定例のあとに、この表で確認してください。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1" name="Google Shape;911;p33"/>
          <p:cNvGraphicFramePr/>
          <p:nvPr/>
        </p:nvGraphicFramePr>
        <p:xfrm>
          <a:off x="347472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{B245CBAB-F9AC-4EA2-8FF3-28AE7FE1501D}</a:tableStyleId>
              </a:tblPr>
              <a:tblGrid>
                <a:gridCol w="2816350"/>
                <a:gridCol w="2816350"/>
                <a:gridCol w="280720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資料の準備</a:t>
                      </a:r>
                      <a:endParaRPr sz="1050" u="none" cap="none" strike="noStrike"/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当日</a:t>
                      </a:r>
                      <a:endParaRPr sz="1050" u="none" cap="none" strike="noStrike"/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定例のあと</a:t>
                      </a:r>
                      <a:endParaRPr sz="1050" u="none" cap="none" strike="noStrike"/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358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目的とゴールを一文で書いた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見せるタブ・テスト用アカウントを準備した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メモ入りの資料を保存した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議題に時間配分をつけた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スライド→実画面→スライドで進めた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決定・宿題・要望を議事録と一覧に反映した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前回決まったことを1枚にした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押さないボタン・準備中の部分を先に言った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相手に決定事項と宿題を共有した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進捗を数字＋結論で書いた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意見を四角のメモで書き、読み上げて確認した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次回の「前回決まったこと」に転記した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画面ごとにキャプチャと見てほしい点を用意した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決めたいことをその場で決めた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相手の宿題の期日を管理表に入れた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決めたいことに案をつけた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次回見せるものを予告した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定例の録画と議事録を保存した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Claudeに撮影ルール（見るだけ・決済は押さない）を伝えた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会議中にメモした版を別名で保存した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</a:rPr>
                        <a:t>□ 議事録と意見入りの資料を先方に共有した</a:t>
                      </a:r>
                      <a:endParaRPr sz="950" u="none" cap="none" strike="noStrike"/>
                    </a:p>
                  </a:txBody>
                  <a:tcPr marT="54875" marB="54875" marR="54875" marL="54875">
                    <a:lnL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4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4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9" name="Google Shape;919;p34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0" name="Google Shape;920;p34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Part 2・3のまとめ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921" name="Google Shape;92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34"/>
          <p:cNvSpPr/>
          <p:nvPr/>
        </p:nvSpPr>
        <p:spPr>
          <a:xfrm>
            <a:off x="347472" y="621792"/>
            <a:ext cx="8439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開発の定例は、「動くものを見て、その場で決める」場にする。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4"/>
          <p:cNvSpPr/>
          <p:nvPr/>
        </p:nvSpPr>
        <p:spPr>
          <a:xfrm>
            <a:off x="347472" y="1143000"/>
            <a:ext cx="2651760" cy="2011680"/>
          </a:xfrm>
          <a:prstGeom prst="roundRect">
            <a:avLst>
              <a:gd fmla="val 2727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4"/>
          <p:cNvSpPr/>
          <p:nvPr/>
        </p:nvSpPr>
        <p:spPr>
          <a:xfrm>
            <a:off x="347472" y="13258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35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E3358"/>
                </a:solidFill>
                <a:latin typeface="Arial"/>
                <a:ea typeface="Arial"/>
                <a:cs typeface="Arial"/>
                <a:sym typeface="Arial"/>
              </a:rPr>
              <a:t>見せる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4"/>
          <p:cNvSpPr/>
          <p:nvPr/>
        </p:nvSpPr>
        <p:spPr>
          <a:xfrm>
            <a:off x="512064" y="1965960"/>
            <a:ext cx="232257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キャプチャで予告し、実画面で動きを見せる。数字と色で状況を一目で伝える。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34"/>
          <p:cNvSpPr/>
          <p:nvPr/>
        </p:nvSpPr>
        <p:spPr>
          <a:xfrm>
            <a:off x="3241548" y="1143000"/>
            <a:ext cx="2651760" cy="2011680"/>
          </a:xfrm>
          <a:prstGeom prst="roundRect">
            <a:avLst>
              <a:gd fmla="val 2727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4"/>
          <p:cNvSpPr/>
          <p:nvPr/>
        </p:nvSpPr>
        <p:spPr>
          <a:xfrm>
            <a:off x="3241548" y="13258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35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E3358"/>
                </a:solidFill>
                <a:latin typeface="Arial"/>
                <a:ea typeface="Arial"/>
                <a:cs typeface="Arial"/>
                <a:sym typeface="Arial"/>
              </a:rPr>
              <a:t>書く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4"/>
          <p:cNvSpPr/>
          <p:nvPr/>
        </p:nvSpPr>
        <p:spPr>
          <a:xfrm>
            <a:off x="3406140" y="1965960"/>
            <a:ext cx="232257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意見はその場で資料に四角のメモ。読み上げて確認し、資料を議事録にする。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34"/>
          <p:cNvSpPr/>
          <p:nvPr/>
        </p:nvSpPr>
        <p:spPr>
          <a:xfrm>
            <a:off x="6135624" y="1143000"/>
            <a:ext cx="2651760" cy="2011680"/>
          </a:xfrm>
          <a:prstGeom prst="roundRect">
            <a:avLst>
              <a:gd fmla="val 2727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4"/>
          <p:cNvSpPr/>
          <p:nvPr/>
        </p:nvSpPr>
        <p:spPr>
          <a:xfrm>
            <a:off x="6135624" y="13258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35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E3358"/>
                </a:solidFill>
                <a:latin typeface="Arial"/>
                <a:ea typeface="Arial"/>
                <a:cs typeface="Arial"/>
                <a:sym typeface="Arial"/>
              </a:rPr>
              <a:t>決める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4"/>
          <p:cNvSpPr/>
          <p:nvPr/>
        </p:nvSpPr>
        <p:spPr>
          <a:xfrm>
            <a:off x="6300216" y="1965960"/>
            <a:ext cx="232257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決めたいことは案つき、相手の宿題は期日つき。次回の1枚目につなげる。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34"/>
          <p:cNvSpPr/>
          <p:nvPr/>
        </p:nvSpPr>
        <p:spPr>
          <a:xfrm>
            <a:off x="347472" y="3520440"/>
            <a:ext cx="8439912" cy="438912"/>
          </a:xfrm>
          <a:prstGeom prst="roundRect">
            <a:avLst>
              <a:gd fmla="val 10417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4"/>
          <p:cNvSpPr/>
          <p:nvPr/>
        </p:nvSpPr>
        <p:spPr>
          <a:xfrm>
            <a:off x="347472" y="3520440"/>
            <a:ext cx="8439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資料づくりはClaudeに任せ、当日はまず「ポイント6・7（往復とメモ）」から試す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5"/>
          <p:cNvSpPr/>
          <p:nvPr/>
        </p:nvSpPr>
        <p:spPr>
          <a:xfrm rot="10800000">
            <a:off x="199339" y="0"/>
            <a:ext cx="723290" cy="49286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5"/>
          <p:cNvSpPr/>
          <p:nvPr/>
        </p:nvSpPr>
        <p:spPr>
          <a:xfrm>
            <a:off x="6499555" y="0"/>
            <a:ext cx="1271016" cy="459029"/>
          </a:xfrm>
          <a:prstGeom prst="flowChartInputOutput">
            <a:avLst/>
          </a:prstGeom>
          <a:solidFill>
            <a:srgbClr val="22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1" name="Google Shape;941;p35"/>
          <p:cNvCxnSpPr/>
          <p:nvPr/>
        </p:nvCxnSpPr>
        <p:spPr>
          <a:xfrm>
            <a:off x="1098194" y="459029"/>
            <a:ext cx="6088075" cy="0"/>
          </a:xfrm>
          <a:prstGeom prst="straightConnector1">
            <a:avLst/>
          </a:prstGeom>
          <a:noFill/>
          <a:ln cap="flat" cmpd="sng" w="19050">
            <a:solidFill>
              <a:srgbClr val="2296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2" name="Google Shape;942;p35"/>
          <p:cNvSpPr/>
          <p:nvPr/>
        </p:nvSpPr>
        <p:spPr>
          <a:xfrm>
            <a:off x="1097280" y="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96F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296F3"/>
                </a:solidFill>
                <a:latin typeface="Arial"/>
                <a:ea typeface="Arial"/>
                <a:cs typeface="Arial"/>
                <a:sym typeface="Arial"/>
              </a:rPr>
              <a:t>全体のまとめ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takaakikonaka/.claude/skills/synced/787d15ac-7a44-4e0b-8c2a-968b6af2f5d6_2a61d1f2-2f39-4b1c-b83a-be991a31dfe5/pipon-slides/assets/pipon-logo.png" id="943" name="Google Shape;94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257" y="73152"/>
            <a:ext cx="1028700" cy="384962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35"/>
          <p:cNvSpPr/>
          <p:nvPr/>
        </p:nvSpPr>
        <p:spPr>
          <a:xfrm>
            <a:off x="347472" y="621792"/>
            <a:ext cx="8439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D8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D8A"/>
                </a:solidFill>
                <a:latin typeface="Arial"/>
                <a:ea typeface="Arial"/>
                <a:cs typeface="Arial"/>
                <a:sym typeface="Arial"/>
              </a:rPr>
              <a:t>炎上しない案件は、「そろえる・見せる・残す・つながる」の積み重ねでできています。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5"/>
          <p:cNvSpPr/>
          <p:nvPr/>
        </p:nvSpPr>
        <p:spPr>
          <a:xfrm>
            <a:off x="347472" y="1143000"/>
            <a:ext cx="1984248" cy="2011680"/>
          </a:xfrm>
          <a:prstGeom prst="roundRect">
            <a:avLst>
              <a:gd fmla="val 2765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5"/>
          <p:cNvSpPr/>
          <p:nvPr/>
        </p:nvSpPr>
        <p:spPr>
          <a:xfrm>
            <a:off x="347472" y="1325880"/>
            <a:ext cx="1984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そろえる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35"/>
          <p:cNvSpPr/>
          <p:nvPr/>
        </p:nvSpPr>
        <p:spPr>
          <a:xfrm>
            <a:off x="484632" y="1965960"/>
            <a:ext cx="17099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何ができれば成功か、やらないこと、相手の宿題を最初に決める。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5"/>
          <p:cNvSpPr/>
          <p:nvPr/>
        </p:nvSpPr>
        <p:spPr>
          <a:xfrm>
            <a:off x="2487168" y="1143000"/>
            <a:ext cx="1984248" cy="2011680"/>
          </a:xfrm>
          <a:prstGeom prst="roundRect">
            <a:avLst>
              <a:gd fmla="val 2765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5"/>
          <p:cNvSpPr/>
          <p:nvPr/>
        </p:nvSpPr>
        <p:spPr>
          <a:xfrm>
            <a:off x="2487168" y="1325880"/>
            <a:ext cx="1984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見せる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5"/>
          <p:cNvSpPr/>
          <p:nvPr/>
        </p:nvSpPr>
        <p:spPr>
          <a:xfrm>
            <a:off x="2624328" y="1965960"/>
            <a:ext cx="17099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AIでモックを早く作り、実際の画面でイメージを合わせる。進捗は数字で見せる。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5"/>
          <p:cNvSpPr/>
          <p:nvPr/>
        </p:nvSpPr>
        <p:spPr>
          <a:xfrm>
            <a:off x="4626864" y="1143000"/>
            <a:ext cx="1984248" cy="2011680"/>
          </a:xfrm>
          <a:prstGeom prst="roundRect">
            <a:avLst>
              <a:gd fmla="val 2765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5"/>
          <p:cNvSpPr/>
          <p:nvPr/>
        </p:nvSpPr>
        <p:spPr>
          <a:xfrm>
            <a:off x="4626864" y="1325880"/>
            <a:ext cx="1984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残す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4764024" y="1965960"/>
            <a:ext cx="17099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定例は録画し、意見は資料に追記。議事録と資料は必ず先方に共有する。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5"/>
          <p:cNvSpPr/>
          <p:nvPr/>
        </p:nvSpPr>
        <p:spPr>
          <a:xfrm>
            <a:off x="6766560" y="1143000"/>
            <a:ext cx="1984248" cy="2011680"/>
          </a:xfrm>
          <a:prstGeom prst="roundRect">
            <a:avLst>
              <a:gd fmla="val 2765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6766560" y="1325880"/>
            <a:ext cx="1984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つながる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35"/>
          <p:cNvSpPr/>
          <p:nvPr/>
        </p:nvSpPr>
        <p:spPr>
          <a:xfrm>
            <a:off x="6903720" y="1965960"/>
            <a:ext cx="17099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こまめな連絡と、悪い知らせの早さ。大きい案件は対面や会食で関係をつくる。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5"/>
          <p:cNvSpPr/>
          <p:nvPr/>
        </p:nvSpPr>
        <p:spPr>
          <a:xfrm>
            <a:off x="347472" y="3520440"/>
            <a:ext cx="8439912" cy="438912"/>
          </a:xfrm>
          <a:prstGeom prst="roundRect">
            <a:avLst>
              <a:gd fmla="val 10417" name="adj"/>
            </a:avLst>
          </a:prstGeom>
          <a:solidFill>
            <a:srgbClr val="0E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347472" y="3520440"/>
            <a:ext cx="8439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多少何かが起きても許してもらえる関係が、いちばんの炎上対策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2026-10-14T06:09:03Z</dcterms:created>
  <dc:creator>PptxGenJS</dc:creator>
</cp:coreProperties>
</file>
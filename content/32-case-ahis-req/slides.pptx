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06070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案件追体験シリーズ ｜ 第1章</a:t>
            </a:r>
          </a:p>
          <a:p>
            <a:pPr algn="l">
              <a:spcAft>
                <a:spcPts val="800"/>
              </a:spcAft>
            </a:pPr>
            <a:r>
              <a:rPr sz="42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要件整理フェーズを追体験する</a:t>
            </a:r>
          </a:p>
          <a:p>
            <a:pPr algn="l">
              <a:spcAft>
                <a:spcPts val="1800"/>
              </a:spcAft>
            </a:pPr>
            <a:r>
              <a:rPr sz="25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― 動物病院の電子カルテ刷新プロジェクト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9A948C"/>
                </a:solidFill>
                <a:latin typeface="Hiragino Kaku Gothic Pro"/>
                <a:ea typeface="Hiragino Kaku Gothic Pro"/>
                <a:cs typeface="Hiragino Kaku Gothic Pro"/>
              </a:rPr>
              <a:t>株式会社pipon｜pipon learning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この案件の背景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あなたは、この案件のFDEだ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・多拠点の動物病院グループが、長年使った電子カルテを刷新する大型案件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・開発会社が複数入る「連携開発」。前任が作りかけた“動くα版”はある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・ただし要件は曖昧なまま。あなたは要件整理フェーズから参加した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26364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>
                <a:solidFill>
                  <a:srgbClr val="9A948C"/>
                </a:solidFill>
                <a:latin typeface="Hiragino Kaku Gothic Pro"/>
                <a:ea typeface="Hiragino Kaku Gothic Pro"/>
                <a:cs typeface="Hiragino Kaku Gothic Pro"/>
              </a:rPr>
              <a:t>これから訪れる6つの岐路で、現場でどう動くかを一緒に考えていきます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局面01 ― 状況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要件が、洪水のように出てくる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・現場ヒアリングを始めると、仕様の疑問・やりたいこと・バグが噴出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・例：患者登録は2パターンでいい？／検査オーダーが届かない（バグ？）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・確認事項・要件・バグが区別なく、20件以上まざって出てきた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局面01 ― pipの判断と学び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まず、全部出す。分類は後。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・種類を問わず、まず全件を1枚のシートに書き出した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・分類・優先度づけは、出し切ってからの後工程にした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・学び：頭の中で仕分けしながら出すと必ず漏れる。まず可視化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局面02 ― 状況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全部は、作れない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・出し切ったら膨大。現場は「あれも欲しい、これも欲しい」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・全部作っていたら終わらない。どこまで作れば“現場で回る”のか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・“声が多い順”で並べると、本当に止まる業務が埋もれてしまう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局面02 ― pipの判断と学び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デグレ禁止線から、優先度を引く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2880360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現行でできること＝デグレ禁止線。無条件で採用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538728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3538728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現行にないが、落とすと紙・Excelに戻る。採用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197096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4197096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改善要望。後フェーズへ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855464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4855464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無視してよい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626364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>
                <a:solidFill>
                  <a:srgbClr val="9A948C"/>
                </a:solidFill>
                <a:latin typeface="Hiragino Kaku Gothic Pro"/>
                <a:ea typeface="Hiragino Kaku Gothic Pro"/>
                <a:cs typeface="Hiragino Kaku Gothic Pro"/>
              </a:rPr>
              <a:t>軸は声の大きさでも作りやすさでもなく「業務が紙に戻らないか」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局面03 ― 状況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同じ言葉を、違う意味で使っている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・「UAT」「β版」が人によって意味バラバラ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・企画段階の試用を“UAT”と呼ぶ人がいて、顧客も混乱気味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・細かい話に見えるが、放っておくと後で揉めるやつ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局面03 ― pipの判断と学び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用語を、まず自分たちから統一する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・工程定義を1枚に固定。UAT＝合意済み要件への検収、と明確化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・今やっているのは「フィールドテスト／α版レビュー」と呼ぶ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・学び：用語の曖昧さは、契約・検収・責任の火種。最初に直せば一番安い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局面04 ― 状況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なぜこの要件があるのか、誰も言えない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・前任から引き継いだアカウント基盤に、要件が盛りだくさん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・だが「なぜ採用されたのか」を誰も説明できない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・このまま作ると、過剰で重いものができてしまう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局面04 ― pipの判断と学び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「なぜ」を1件ずつ遡って、棚卸しする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・理由が言えて代替がなければ残す。言えなければ削減候補へ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・情報が足りないものは“顧客への確認アクション”にして潰す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・学び：引き継いだ仕様は正解ではなく、誰かの過去の判断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局面05 ― 状況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現場に、同じことを何度も聞いてしまう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・各診療科・各拠点にヒアリングが必要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・複数社がバラバラに行くと、先生に同じ質問を繰り返す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・現場の“協力しよう”という気持ちは、有限資源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局面05 ― pipの判断と学び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“聞く計画”を可視化して、共有する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・「誰が誰にいつ聞くか」を1枚のスケジュール表で管理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・重複は同席で解消。議事録は全社共通の1箇所に集約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・学び：計画の可視化だけで、現場負荷と情報の抜けが同時に減る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局面06 ― 状況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決裁者が、置いてけぼりになっている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・決裁者は、知らぬ間に進むのを嫌う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・一方で、大人数の会議では意見を言わず溜め込むタイプ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・放置すれば、終盤で要件がひっくり返る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局面06 ― pipの判断と学び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“触れて言える場”を、段取りする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・本人がα版を触って意見を出せる、別枠の個別の場を用意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・“現場担当起点の提案”という、角が立たない建て付けにした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・学び：巻き込みはお願いではなく段取り。発言できる場の設計も要件整理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まとめ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持ち帰る「要件整理の型」6か条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1. まず全部出す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2880360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分類より先に可視化する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538728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2. デグレ禁止線で切る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3538728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優先度の軸は業務影響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197096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3. 用語を最初に固定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4197096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検収の火種を先に消す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855464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4. 「なぜ」で棚卸し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4855464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遡れない要件は過剰設計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513831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5. 聞く計画を共有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5513831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現場の信頼を守る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6172200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6. 決裁者に場を作る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6172200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終盤の逆流を防ぐ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06070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次章予告</a:t>
            </a:r>
          </a:p>
          <a:p>
            <a:pPr algn="l">
              <a:spcAft>
                <a:spcPts val="800"/>
              </a:spcAft>
            </a:pPr>
            <a:r>
              <a:rPr sz="42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第2章：複数社連携の開発マネジメント</a:t>
            </a:r>
          </a:p>
          <a:p>
            <a:pPr algn="l">
              <a:spcAft>
                <a:spcPts val="1800"/>
              </a:spcAft>
            </a:pPr>
            <a:r>
              <a:rPr sz="25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決定事項シート × Backlog × 招待運用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9A948C"/>
                </a:solidFill>
                <a:latin typeface="Hiragino Kaku Gothic Pro"/>
                <a:ea typeface="Hiragino Kaku Gothic Pro"/>
                <a:cs typeface="Hiragino Kaku Gothic Pro"/>
              </a:rPr>
              <a:t>複数の会社で1つのプロダクトを回す仕組みを追体験する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
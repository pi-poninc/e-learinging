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表紙。名前・肩書きは載せない。
対象：非エンジニア寄りの経営者、AIを学びたい人。
例に使う値はすべてダミー（my-mac＝Macの名前、you＝ユーザー名、100.x.y.z＝Tailscaleの住所）。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非エンジニアの経営者が実際に困る3つの場面から入る。
「AIを使いたい場所」と「AIが動いている場所」がずれている、というのが本質。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左から右へ、指示が流れる順に説明する。
Tailscale は WireGuard で暗号化した端末どうしの網（tailnet）をつくり、NATやファイアウォールを越えてつながる。ポート開放は不要。
Tailscale SSH の受け側は macOS ではオープンソース版の tailscaled が必要なため、このコンテンツでは macOS 標準のSSH（リモートログイン）を使う。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「部品」として5つを1行ずつ。ここでは覚えなくてよい、次のスライドから順番に入れていく、と伝える。
tmux は SSH が切れても中のプログラムを動かし続け、あとで再接続できる。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項目名は Apple の日本語サポートページの表記に合わせている。
機種によっては「停電後に自動的に起動」が「電源の接続時に起動」＞「停電後」と表示される。
出典：Apple「Macのスリープ/スリープ解除を設定する」「Macデスクトップコンピュータの『エネルギー』設定を変更する」。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出典：Apple「リモートコンピュータにMacへのアクセスを許可する」。
「すべてのユーザ」ではなく「次のユーザのみ」にして、自分のアカウントだけを登録する。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料金（本文には載せない）：Personal プランは個人の非商用向け。Standard プランは1ユーザー月8ドル（2026年10月時点）。仕事で使うときは公式の料金ページ（tailscale.com/pricing）で確かめる。
各端末には 100.x.y.z の範囲のIPアドレスが割り当てられる。MagicDNS で、端末の名前で接続できる。
macOS版 Tailscale は macOS 12 以降。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インストールコマンドは公式ページの表記（2026-10-27 確認）。
Claude Code：Homebrew 版 brew install --cask claude-code、npm 版 npm install -g @anthropic-ai/claude-code もある。出典 https://code.claude.com/docs/en/setup
Codex：npm 版・Homebrew 版もある。出典 https://developers.openai.com/codex/cli
tmux：Homebrew なら brew install tmux。MacPorts なら port install tmux。出典 https://github.com/tmux/tmux/wiki/Installing
初回起動時にブラウザが開き、ログインを求められる。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 に入れたときと同じアカウントでログインするのがポイント。別アカウントだと同じ網に入れない。
iOS版は iOS 15 以降。出典 https://tailscale.com/kb/1020/install-ios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Termius の料金（本文には詳細を載せない）：Starter は無料・商用可で、SSH・SFTP・端末内の鍵保存ができる。Pro は年払いで月10ドルで、端末間の同期ができる（2026年10月時点）。出典 https://termius.com/pricing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鍵は「秘密鍵（端末に置く・絶対に渡さない）」と「公開鍵（Macに置く・渡してよい）」のペア。
PC なら ssh-keygen で作る。出典 OpenSSH ssh-keygen(1) https://man.openbsd.org/ssh-keygen
Mac 側の authorized_keys の権限などは OpenSSH sshd_config(5) を参照。https://man.openbsd.org/sshd_config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同じWi-Fi内だと「たまたま」つながることがあるので、必ずモバイル回線で確認する。
tmux new -A -s 名前 は、あればつなぎ、なければ作る。出典 https://github.com/tmux/tmux/wiki/Getting-Started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ポイントは4番目。接続を切ってもtmuxの中でAIが動き続けるので、移動中に頼んで、着いたら結果を見る、という使い方ができる。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クラウドにAIを置く方法と比べたときの利点を中心に話す。手元のファイルやツールがそのまま使えるのが大きい。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パスワードログインの無効化は、sshd の設定（PasswordAuthentication no）で行うが、詳しい手順はこの資料では扱わない。参考：OpenSSH sshd_config(5) https://man.openbsd.org/sshd_config
端末の再認証の期限は既定で180日。出典 https://tailscale.com/kb/1028/key-expiry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締め。3点に絞って振り返る。
出典（確認日 2026-10-26。料金は2026年10月時点）：Apple サポート S1〜S3、Tailscale Pricing、tmux wiki、Claude Code 公式ドキュメント（code.claude.com）、OpenAI Codex CLI、Termius Pricing、OpenSSH ssh-keygen(1)・sshd_config(5)。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D4A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6"/>
                </a:solidFill>
              </a:rPr>
              <a:t>外出先のスマホから、自宅MacのAIに仕事を振る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chemeClr val="bg1"/>
                </a:solidFill>
              </a:rPr>
              <a:t>外出先のスマホから、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chemeClr val="bg1"/>
                </a:solidFill>
              </a:rPr>
              <a:t>自宅MacのAIに仕事を振る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88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A33A"/>
                </a:solidFill>
              </a:rPr>
              <a:t>Tailscale × SSH × Claude Code / Codex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611880"/>
            <a:ext cx="548640" cy="54864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7490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65760" y="4206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CE2"/>
                </a:solidFill>
              </a:rPr>
              <a:t>スマホ・PC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3749040"/>
            <a:ext cx="274320" cy="274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011680" y="3611880"/>
            <a:ext cx="548640" cy="54864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374904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737360" y="4206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CE2"/>
                </a:solidFill>
              </a:rPr>
              <a:t>Tailscale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3749040"/>
            <a:ext cx="274320" cy="27432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3383280" y="3611880"/>
            <a:ext cx="548640" cy="54864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3749040"/>
            <a:ext cx="274320" cy="27432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3108960" y="4206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CE2"/>
                </a:solidFill>
              </a:rPr>
              <a:t>自宅Mac</a:t>
            </a:r>
            <a:endParaRPr lang="en-US" sz="11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0520" y="3749040"/>
            <a:ext cx="274320" cy="27432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4754880" y="3611880"/>
            <a:ext cx="548640" cy="54864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3749040"/>
            <a:ext cx="274320" cy="274320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4480560" y="4206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CE2"/>
                </a:solidFill>
              </a:rPr>
              <a:t>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こんな悩みはありませんか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554480"/>
            <a:ext cx="2651760" cy="2331720"/>
          </a:xfrm>
          <a:prstGeom prst="roundRect">
            <a:avLst>
              <a:gd name="adj" fmla="val 4706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783080"/>
            <a:ext cx="640080" cy="64008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9431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560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移動中にAIに頼みたい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017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電車や出先で思いついた作業を、その場でAIに振りたい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46120" y="1554480"/>
            <a:ext cx="2651760" cy="2331720"/>
          </a:xfrm>
          <a:prstGeom prst="roundRect">
            <a:avLst>
              <a:gd name="adj" fmla="val 4706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74720" y="1783080"/>
            <a:ext cx="640080" cy="64008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740" y="19431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74720" y="2560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外ではPCを開けない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3017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手元にあるのはスマホだけ。でも作業は進めたい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035040" y="1554480"/>
            <a:ext cx="2651760" cy="2331720"/>
          </a:xfrm>
          <a:prstGeom prst="roundRect">
            <a:avLst>
              <a:gd name="adj" fmla="val 4706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63640" y="1783080"/>
            <a:ext cx="640080" cy="64008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19431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63640" y="2560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AIは自宅のMacにいる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3017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Claude Code や Codex は、自宅のMacに入っている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E8F6F0"/>
          </a:solidFill>
          <a:ln w="12700">
            <a:solidFill>
              <a:srgbClr val="E8F6F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4270248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60120" y="41605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解決策：自宅のMacを「外から安全に使える」ようにすればいい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全体像：外から自宅のMacを動かす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874520"/>
            <a:ext cx="1417320" cy="1600200"/>
          </a:xfrm>
          <a:prstGeom prst="roundRect">
            <a:avLst>
              <a:gd name="adj" fmla="val 7742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1540" y="2039112"/>
            <a:ext cx="548640" cy="54864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176272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26517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スマホ・PC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30358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C86"/>
                </a:solidFill>
              </a:rPr>
              <a:t>外出先の端末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232" y="2532888"/>
            <a:ext cx="320040" cy="3200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157984" y="1874520"/>
            <a:ext cx="1417320" cy="1600200"/>
          </a:xfrm>
          <a:prstGeom prst="roundRect">
            <a:avLst>
              <a:gd name="adj" fmla="val 7742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592324" y="2039112"/>
            <a:ext cx="548640" cy="54864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9484" y="217627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203704" y="26517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Tailscale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2203704" y="30358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C86"/>
                </a:solidFill>
              </a:rPr>
              <a:t>安全なトンネル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016" y="2532888"/>
            <a:ext cx="320040" cy="32004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3858768" y="1874520"/>
            <a:ext cx="1417320" cy="1600200"/>
          </a:xfrm>
          <a:prstGeom prst="roundRect">
            <a:avLst>
              <a:gd name="adj" fmla="val 7742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4293108" y="2039112"/>
            <a:ext cx="548640" cy="54864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0268" y="217627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3904488" y="26517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自宅Mac</a:t>
            </a:r>
            <a:endParaRPr lang="en-US" sz="1200" dirty="0"/>
          </a:p>
        </p:txBody>
      </p:sp>
      <p:sp>
        <p:nvSpPr>
          <p:cNvPr id="19" name="Text 12"/>
          <p:cNvSpPr txBox="1"/>
          <p:nvPr/>
        </p:nvSpPr>
        <p:spPr>
          <a:xfrm>
            <a:off x="3904488" y="30358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C86"/>
                </a:solidFill>
              </a:rPr>
              <a:t>SSHで受ける</a:t>
            </a:r>
            <a:endParaRPr lang="en-US" sz="11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2532888"/>
            <a:ext cx="320040" cy="320040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5559552" y="1874520"/>
            <a:ext cx="1417320" cy="1600200"/>
          </a:xfrm>
          <a:prstGeom prst="roundRect">
            <a:avLst>
              <a:gd name="adj" fmla="val 7742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5993892" y="2039112"/>
            <a:ext cx="548640" cy="54864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1052" y="2176272"/>
            <a:ext cx="274320" cy="27432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5605272" y="26517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ターミナル (tmux)</a:t>
            </a:r>
            <a:endParaRPr lang="en-US" sz="1200" dirty="0"/>
          </a:p>
        </p:txBody>
      </p:sp>
      <p:sp>
        <p:nvSpPr>
          <p:cNvPr id="25" name="Text 16"/>
          <p:cNvSpPr txBox="1"/>
          <p:nvPr/>
        </p:nvSpPr>
        <p:spPr>
          <a:xfrm>
            <a:off x="5605272" y="30358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C86"/>
                </a:solidFill>
              </a:rPr>
              <a:t>作業場</a:t>
            </a:r>
            <a:endParaRPr lang="en-US" sz="11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8584" y="2532888"/>
            <a:ext cx="320040" cy="32004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7260336" y="1874520"/>
            <a:ext cx="1417320" cy="1600200"/>
          </a:xfrm>
          <a:prstGeom prst="roundRect">
            <a:avLst>
              <a:gd name="adj" fmla="val 7742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</p:sp>
      <p:sp>
        <p:nvSpPr>
          <p:cNvPr id="28" name="Shape 18"/>
          <p:cNvSpPr/>
          <p:nvPr/>
        </p:nvSpPr>
        <p:spPr>
          <a:xfrm>
            <a:off x="7694676" y="2039112"/>
            <a:ext cx="548640" cy="54864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31836" y="2176272"/>
            <a:ext cx="274320" cy="274320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7306056" y="26517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Claude Code / Codex</a:t>
            </a:r>
            <a:endParaRPr lang="en-US" sz="1200" dirty="0"/>
          </a:p>
        </p:txBody>
      </p:sp>
      <p:sp>
        <p:nvSpPr>
          <p:cNvPr id="31" name="Text 20"/>
          <p:cNvSpPr txBox="1"/>
          <p:nvPr/>
        </p:nvSpPr>
        <p:spPr>
          <a:xfrm>
            <a:off x="7306056" y="30358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C86"/>
                </a:solidFill>
              </a:rPr>
              <a:t>仕事をするAI</a:t>
            </a:r>
            <a:endParaRPr lang="en-US" sz="1100" dirty="0"/>
          </a:p>
        </p:txBody>
      </p:sp>
      <p:sp>
        <p:nvSpPr>
          <p:cNvPr id="32" name="Text 21"/>
          <p:cNvSpPr txBox="1"/>
          <p:nvPr/>
        </p:nvSpPr>
        <p:spPr>
          <a:xfrm>
            <a:off x="457200" y="36118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33A"/>
                </a:solidFill>
              </a:rPr>
              <a:t>端末側</a:t>
            </a:r>
            <a:endParaRPr lang="en-US" sz="1100" dirty="0"/>
          </a:p>
        </p:txBody>
      </p:sp>
      <p:sp>
        <p:nvSpPr>
          <p:cNvPr id="33" name="Text 22"/>
          <p:cNvSpPr txBox="1"/>
          <p:nvPr/>
        </p:nvSpPr>
        <p:spPr>
          <a:xfrm>
            <a:off x="2157984" y="3611880"/>
            <a:ext cx="6519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8C9E"/>
                </a:solidFill>
              </a:rPr>
              <a:t>Mac側（自宅）</a:t>
            </a:r>
            <a:endParaRPr lang="en-US" sz="1100" dirty="0"/>
          </a:p>
        </p:txBody>
      </p:sp>
      <p:sp>
        <p:nvSpPr>
          <p:cNvPr id="34" name="Shape 23"/>
          <p:cNvSpPr/>
          <p:nvPr/>
        </p:nvSpPr>
        <p:spPr>
          <a:xfrm>
            <a:off x="457200" y="3584448"/>
            <a:ext cx="1417320" cy="0"/>
          </a:xfrm>
          <a:prstGeom prst="line">
            <a:avLst/>
          </a:prstGeom>
          <a:noFill/>
          <a:ln w="19050">
            <a:solidFill>
              <a:srgbClr val="F2A33A"/>
            </a:solidFill>
            <a:prstDash val="solid"/>
          </a:ln>
        </p:spPr>
      </p:sp>
      <p:sp>
        <p:nvSpPr>
          <p:cNvPr id="35" name="Shape 24"/>
          <p:cNvSpPr/>
          <p:nvPr/>
        </p:nvSpPr>
        <p:spPr>
          <a:xfrm>
            <a:off x="2157984" y="3584448"/>
            <a:ext cx="6519672" cy="0"/>
          </a:xfrm>
          <a:prstGeom prst="line">
            <a:avLst/>
          </a:prstGeom>
          <a:noFill/>
          <a:ln w="19050">
            <a:solidFill>
              <a:srgbClr val="2A8C9E"/>
            </a:solidFill>
            <a:prstDash val="solid"/>
          </a:ln>
        </p:spPr>
      </p:sp>
      <p:sp>
        <p:nvSpPr>
          <p:cNvPr id="36" name="Shape 25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E8F6F0"/>
          </a:solidFill>
          <a:ln w="12700">
            <a:solidFill>
              <a:srgbClr val="E8F6F0"/>
            </a:solidFill>
            <a:prstDash val="solid"/>
          </a:ln>
        </p:spPr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792" y="4270248"/>
            <a:ext cx="237744" cy="237744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960120" y="41605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ルーターの設定（ポート開放）は一切しない。Tailscaleが端末どうしを直接つなぐ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それぞれの部品の役割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527048"/>
            <a:ext cx="457200" cy="45720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641348"/>
            <a:ext cx="228600" cy="228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1463040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Tailscale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2834640" y="146304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端末どうしを暗号化でつなぐ「私設の網」。ルーターのポート開放は不要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097280" y="2066544"/>
            <a:ext cx="7589520" cy="0"/>
          </a:xfrm>
          <a:prstGeom prst="line">
            <a:avLst/>
          </a:prstGeom>
          <a:noFill/>
          <a:ln w="9525">
            <a:solidFill>
              <a:srgbClr val="DCE7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2148840"/>
            <a:ext cx="457200" cy="45720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26314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97280" y="2084832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SSH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2834640" y="2084832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外からMacのターミナルに安全にログインする仕組み。macOS に標準で入っている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1097280" y="2688336"/>
            <a:ext cx="7589520" cy="0"/>
          </a:xfrm>
          <a:prstGeom prst="line">
            <a:avLst/>
          </a:prstGeom>
          <a:noFill/>
          <a:ln w="9525">
            <a:solidFill>
              <a:srgbClr val="DCE7E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7200" y="2770632"/>
            <a:ext cx="457200" cy="45720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84932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97280" y="2706624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tmux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2834640" y="2706624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ターミナルの「作業場」を保持する。接続が切れてもAIは動き続け、あとで戻れる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1097280" y="3310128"/>
            <a:ext cx="7589520" cy="0"/>
          </a:xfrm>
          <a:prstGeom prst="line">
            <a:avLst/>
          </a:prstGeom>
          <a:noFill/>
          <a:ln w="9525">
            <a:solidFill>
              <a:srgbClr val="DCE7E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57200" y="3392424"/>
            <a:ext cx="457200" cy="45720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506724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097280" y="3328416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Claude Code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2834640" y="3328416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Anthropic のターミナル版AI。ファイル操作やコマンド実行まで任せられる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1097280" y="3931920"/>
            <a:ext cx="7589520" cy="0"/>
          </a:xfrm>
          <a:prstGeom prst="line">
            <a:avLst/>
          </a:prstGeom>
          <a:noFill/>
          <a:ln w="9525">
            <a:solidFill>
              <a:srgbClr val="DCE7EA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57200" y="4014216"/>
            <a:ext cx="457200" cy="45720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128516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097280" y="3950208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Codex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2834640" y="3950208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OpenAI のターミナル版AI。使い方はほぼ同じ。どちらか一方でもよい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sp>
        <p:nvSpPr>
          <p:cNvPr id="3" name="tag"/>
          <p:cNvSpPr txBox="1"/>
          <p:nvPr/>
        </p:nvSpPr>
        <p:spPr>
          <a:xfrm>
            <a:off x="457200" y="3474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Mac側 ①</a:t>
            </a:r>
            <a:endParaRPr lang="en-US" sz="1100" dirty="0"/>
          </a:p>
        </p:txBody>
      </p:sp>
      <p:sp>
        <p:nvSpPr>
          <p:cNvPr id="4" name="title"/>
          <p:cNvSpPr txBox="1"/>
          <p:nvPr/>
        </p:nvSpPr>
        <p:spPr>
          <a:xfrm>
            <a:off x="457200" y="713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スリープしないようにする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2560320"/>
          </a:xfrm>
          <a:prstGeom prst="roundRect">
            <a:avLst>
              <a:gd name="adj" fmla="val 4286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45920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1771650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1645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デスクトップ型（Mac mini など）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286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6"/>
                </a:solidFill>
              </a:rPr>
              <a:t>システム設定 ＞ エネルギー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65176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☑"/>
            </a:pPr>
            <a:r>
              <a:rPr lang="en-US" sz="1300" dirty="0">
                <a:solidFill>
                  <a:schemeClr val="tx1"/>
                </a:solidFill>
              </a:rPr>
              <a:t>「ディスプレイがオフのときに自動でスリープさせない」をオン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☑"/>
            </a:pPr>
            <a:r>
              <a:rPr lang="en-US" sz="1300" dirty="0">
                <a:solidFill>
                  <a:schemeClr val="tx1"/>
                </a:solidFill>
              </a:rPr>
              <a:t>停電に備えて「停電後に自動的に起動」もオン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663440" y="1463040"/>
            <a:ext cx="4023360" cy="2560320"/>
          </a:xfrm>
          <a:prstGeom prst="roundRect">
            <a:avLst>
              <a:gd name="adj" fmla="val 4286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92040" y="1645920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7770" y="1771650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532120" y="1645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ノート型（MacBook）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892040" y="2286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6"/>
                </a:solidFill>
              </a:rPr>
              <a:t>システム設定 ＞ バッテリー ＞ オプション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4892040" y="265176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☑"/>
            </a:pPr>
            <a:r>
              <a:rPr lang="en-US" sz="1300" dirty="0">
                <a:solidFill>
                  <a:schemeClr val="tx1"/>
                </a:solidFill>
              </a:rPr>
              <a:t>「電源アダプタ使用時はディスプレイがオフのときに自動でスリープさせない」をオン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☑"/>
            </a:pPr>
            <a:r>
              <a:rPr lang="en-US" sz="1300" dirty="0">
                <a:solidFill>
                  <a:schemeClr val="tx1"/>
                </a:solidFill>
              </a:rPr>
              <a:t>電源アダプタをつないだままにする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E8F6F0"/>
          </a:solidFill>
          <a:ln w="12700">
            <a:solidFill>
              <a:srgbClr val="E8F6F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270248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60120" y="41605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外から呼んでも、Macが寝ていては応答できない。まず「起きたまま」にする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sp>
        <p:nvSpPr>
          <p:cNvPr id="3" name="tag"/>
          <p:cNvSpPr txBox="1"/>
          <p:nvPr/>
        </p:nvSpPr>
        <p:spPr>
          <a:xfrm>
            <a:off x="457200" y="3474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Mac側 ②</a:t>
            </a:r>
            <a:endParaRPr lang="en-US" sz="1100" dirty="0"/>
          </a:p>
        </p:txBody>
      </p:sp>
      <p:sp>
        <p:nvSpPr>
          <p:cNvPr id="4" name="title"/>
          <p:cNvSpPr txBox="1"/>
          <p:nvPr/>
        </p:nvSpPr>
        <p:spPr>
          <a:xfrm>
            <a:off x="457200" y="713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リモートログインをオンにする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325880" cy="457200"/>
          </a:xfrm>
          <a:prstGeom prst="roundRect">
            <a:avLst>
              <a:gd name="adj" fmla="val 20000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544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システム設定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15544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C86"/>
                </a:solidFill>
              </a:rPr>
              <a:t>＞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03120" y="1554480"/>
            <a:ext cx="1325880" cy="457200"/>
          </a:xfrm>
          <a:prstGeom prst="roundRect">
            <a:avLst>
              <a:gd name="adj" fmla="val 20000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03120" y="15544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一般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5544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C86"/>
                </a:solidFill>
              </a:rPr>
              <a:t>＞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49040" y="1554480"/>
            <a:ext cx="1325880" cy="457200"/>
          </a:xfrm>
          <a:prstGeom prst="roundRect">
            <a:avLst>
              <a:gd name="adj" fmla="val 20000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49040" y="15544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共有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074920" y="15544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C86"/>
                </a:solidFill>
              </a:rPr>
              <a:t>＞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394960" y="1554480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94960" y="1554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リモートログイン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4023360" cy="1691640"/>
          </a:xfrm>
          <a:prstGeom prst="roundRect">
            <a:avLst>
              <a:gd name="adj" fmla="val 6486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2468880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2594610"/>
            <a:ext cx="251460" cy="25146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325880" y="24688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スイッチをオンにする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310896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これで、Macが外からのSSH接続を受け付ける状態になる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663440" y="2286000"/>
            <a:ext cx="4023360" cy="1691640"/>
          </a:xfrm>
          <a:prstGeom prst="roundRect">
            <a:avLst>
              <a:gd name="adj" fmla="val 6486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2468880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7770" y="2594610"/>
            <a:ext cx="251460" cy="25146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5532120" y="24688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「アクセスを許可」は「次のユーザのみ」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4892040" y="310896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自分のユーザだけを入れる。入口はできるだけ狭くしておく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E8F6F0"/>
          </a:solidFill>
          <a:ln w="12700">
            <a:solidFill>
              <a:srgbClr val="E8F6F0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270248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60120" y="41605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「リモートログイン」＝ SSHで入れる状態。macOS標準の機能なので追加ソフトは不要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sp>
        <p:nvSpPr>
          <p:cNvPr id="3" name="tag"/>
          <p:cNvSpPr txBox="1"/>
          <p:nvPr/>
        </p:nvSpPr>
        <p:spPr>
          <a:xfrm>
            <a:off x="457200" y="3474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Mac側 ③</a:t>
            </a:r>
            <a:endParaRPr lang="en-US" sz="1100" dirty="0"/>
          </a:p>
        </p:txBody>
      </p:sp>
      <p:sp>
        <p:nvSpPr>
          <p:cNvPr id="4" name="title"/>
          <p:cNvSpPr txBox="1"/>
          <p:nvPr/>
        </p:nvSpPr>
        <p:spPr>
          <a:xfrm>
            <a:off x="457200" y="713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MacにTailscaleを入れる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463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公式サイトからダウンロード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8470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C86"/>
                </a:solidFill>
              </a:rPr>
              <a:t>tailscale.com から macOS 版を入れる（macOS 12 以降）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331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「VPN構成の追加」を許可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7157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C86"/>
                </a:solidFill>
              </a:rPr>
              <a:t>初回起動時に出るダイアログで許可する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200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ログイン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5844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C86"/>
                </a:solidFill>
              </a:rPr>
              <a:t>Google / Microsoft / GitHub などのアカウントでサインイン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94960" y="1463040"/>
            <a:ext cx="3291840" cy="2514600"/>
          </a:xfrm>
          <a:prstGeom prst="roundRect">
            <a:avLst>
              <a:gd name="adj" fmla="val 4364"/>
            </a:avLst>
          </a:prstGeom>
          <a:solidFill>
            <a:srgbClr val="1D4A57"/>
          </a:solidFill>
          <a:ln w="9525">
            <a:solidFill>
              <a:srgbClr val="1D4A5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23560" y="1600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CE2"/>
                </a:solidFill>
              </a:rPr>
              <a:t>入れ終わると、このMacに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CE2"/>
                </a:solidFill>
              </a:rPr>
              <a:t>住所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2011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100.x.y.z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623560" y="2514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CE2"/>
                </a:solidFill>
              </a:rPr>
              <a:t>名前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my-mac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623560" y="30632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CE2"/>
                </a:solidFill>
              </a:rPr>
              <a:t>が割り当てられる。名前（MagicDNS）で接続できる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E8F6F0"/>
          </a:solidFill>
          <a:ln w="12700">
            <a:solidFill>
              <a:srgbClr val="E8F6F0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4270248"/>
            <a:ext cx="237744" cy="237744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960120" y="41605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画面右上のメニューバーにTailscaleのアイコンが出れば完了。住所と名前を控えておく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sp>
        <p:nvSpPr>
          <p:cNvPr id="3" name="tag"/>
          <p:cNvSpPr txBox="1"/>
          <p:nvPr/>
        </p:nvSpPr>
        <p:spPr>
          <a:xfrm>
            <a:off x="457200" y="3474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Mac側 ④</a:t>
            </a:r>
            <a:endParaRPr lang="en-US" sz="1100" dirty="0"/>
          </a:p>
        </p:txBody>
      </p:sp>
      <p:sp>
        <p:nvSpPr>
          <p:cNvPr id="4" name="title"/>
          <p:cNvSpPr txBox="1"/>
          <p:nvPr/>
        </p:nvSpPr>
        <p:spPr>
          <a:xfrm>
            <a:off x="457200" y="713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AIのCLIとtmuxを入れる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63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Claude Code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C86"/>
                </a:solidFill>
              </a:rPr>
              <a:t>Anthropic製。入れたら claude と打ち、ブラウザでログイン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17520" y="1463040"/>
            <a:ext cx="5669280" cy="713232"/>
          </a:xfrm>
          <a:prstGeom prst="roundRect">
            <a:avLst>
              <a:gd name="adj" fmla="val 10256"/>
            </a:avLst>
          </a:prstGeom>
          <a:solidFill>
            <a:srgbClr val="0F2A33"/>
          </a:solidFill>
          <a:ln w="12700">
            <a:solidFill>
              <a:srgbClr val="0F2A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00400" y="1463040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2A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-fsSL https://claude.ai/install.sh | bash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359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Codex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7249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C86"/>
                </a:solidFill>
              </a:rPr>
              <a:t>OpenAI製。入れたら codex と打ち、ChatGPTでサインイン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17520" y="2359152"/>
            <a:ext cx="5669280" cy="713232"/>
          </a:xfrm>
          <a:prstGeom prst="roundRect">
            <a:avLst>
              <a:gd name="adj" fmla="val 10256"/>
            </a:avLst>
          </a:prstGeom>
          <a:solidFill>
            <a:srgbClr val="0F2A33"/>
          </a:solidFill>
          <a:ln w="12700">
            <a:solidFill>
              <a:srgbClr val="0F2A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0" y="2359152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2A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-fsSL https://chatgpt.com/codex/install.sh | sh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2552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tmux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6210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C86"/>
                </a:solidFill>
              </a:rPr>
              <a:t>作業場。Homebrew が入っていればこの1行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17520" y="3255264"/>
            <a:ext cx="5669280" cy="713232"/>
          </a:xfrm>
          <a:prstGeom prst="roundRect">
            <a:avLst>
              <a:gd name="adj" fmla="val 10256"/>
            </a:avLst>
          </a:prstGeom>
          <a:solidFill>
            <a:srgbClr val="0F2A33"/>
          </a:solidFill>
          <a:ln w="12700">
            <a:solidFill>
              <a:srgbClr val="0F2A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00400" y="3255264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2A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install tmux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E8F6F0"/>
          </a:solidFill>
          <a:ln w="12700">
            <a:solidFill>
              <a:srgbClr val="E8F6F0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4270248"/>
            <a:ext cx="237744" cy="237744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960120" y="41605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ターミナルを開いて、1行ずつ貼り付けるだけ。Claude Code と Codex はどちらか一方でもよい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3" name="tag"/>
          <p:cNvSpPr txBox="1"/>
          <p:nvPr/>
        </p:nvSpPr>
        <p:spPr>
          <a:xfrm>
            <a:off x="457200" y="3474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端末側 ①</a:t>
            </a:r>
            <a:endParaRPr lang="en-US" sz="1100" dirty="0"/>
          </a:p>
        </p:txBody>
      </p:sp>
      <p:sp>
        <p:nvSpPr>
          <p:cNvPr id="4" name="title"/>
          <p:cNvSpPr txBox="1"/>
          <p:nvPr/>
        </p:nvSpPr>
        <p:spPr>
          <a:xfrm>
            <a:off x="457200" y="713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スマホ・PCにもTailscaleを入れる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91640"/>
            <a:ext cx="548640" cy="54864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スマホ（iPhone / Android）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7889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App Store / Google Play から「Tailscale」を入れる（iOS 15 以降）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35040" y="1463040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63640" y="1691640"/>
            <a:ext cx="548640" cy="54864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26364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外で使うPC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263640" y="27889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公式サイトから Windows / Mac 版を入れる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520440" y="1783080"/>
            <a:ext cx="2103120" cy="1874520"/>
          </a:xfrm>
          <a:prstGeom prst="ellipse">
            <a:avLst/>
          </a:prstGeom>
          <a:solidFill>
            <a:srgbClr val="1D4A57"/>
          </a:solidFill>
          <a:ln w="12700">
            <a:solidFill>
              <a:srgbClr val="1D4A5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0116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611880" y="25146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Macと同じ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アカウントでログイン</a:t>
            </a:r>
            <a:endParaRPr lang="en-US" sz="13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2560320"/>
            <a:ext cx="320040" cy="32004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669280" y="2715768"/>
            <a:ext cx="320040" cy="0"/>
          </a:xfrm>
          <a:prstGeom prst="line">
            <a:avLst/>
          </a:prstGeom>
          <a:noFill/>
          <a:ln w="19050">
            <a:solidFill>
              <a:srgbClr val="6B7C86"/>
            </a:solidFill>
            <a:prstDash val="solid"/>
            <a:tailEnd type="triangle"/>
          </a:ln>
        </p:spPr>
      </p:sp>
      <p:sp>
        <p:nvSpPr>
          <p:cNvPr id="20" name="Shape 14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E8F6F0"/>
          </a:solidFill>
          <a:ln w="12700">
            <a:solidFill>
              <a:srgbClr val="E8F6F0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4270248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60120" y="41605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同じアカウントに入った端末どうしが、ひとつの「私設の網」になる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3" name="tag"/>
          <p:cNvSpPr txBox="1"/>
          <p:nvPr/>
        </p:nvSpPr>
        <p:spPr>
          <a:xfrm>
            <a:off x="457200" y="3474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端末側 ②</a:t>
            </a:r>
            <a:endParaRPr lang="en-US" sz="1100" dirty="0"/>
          </a:p>
        </p:txBody>
      </p:sp>
      <p:sp>
        <p:nvSpPr>
          <p:cNvPr id="4" name="title"/>
          <p:cNvSpPr txBox="1"/>
          <p:nvPr/>
        </p:nvSpPr>
        <p:spPr>
          <a:xfrm>
            <a:off x="457200" y="713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SSHアプリを用意する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2514600"/>
          </a:xfrm>
          <a:prstGeom prst="roundRect">
            <a:avLst>
              <a:gd name="adj" fmla="val 4364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91640"/>
            <a:ext cx="548640" cy="54864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691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スマホ：「Termius」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377440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SSHアプリの定番。無料プランあり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接続先（ホスト）と鍵を登録しておける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App Store / Google Play から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463040"/>
            <a:ext cx="4023360" cy="2514600"/>
          </a:xfrm>
          <a:prstGeom prst="roundRect">
            <a:avLst>
              <a:gd name="adj" fmla="val 4364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92040" y="1691640"/>
            <a:ext cx="548640" cy="54864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77840" y="1691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PC：標準のターミナル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892040" y="2377440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Mac：「ターミナル」アプリ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Windows：PowerShell または ターミナル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どちらも ssh コマンドが最初から入っている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E8F6F0"/>
          </a:solidFill>
          <a:ln w="12700">
            <a:solidFill>
              <a:srgbClr val="E8F6F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27024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60120" y="41605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追加で買うものは基本なし。スマホ用アプリも無料プランで始められる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3" name="tag"/>
          <p:cNvSpPr txBox="1"/>
          <p:nvPr/>
        </p:nvSpPr>
        <p:spPr>
          <a:xfrm>
            <a:off x="457200" y="3474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端末側 ③</a:t>
            </a:r>
            <a:endParaRPr lang="en-US" sz="1100" dirty="0"/>
          </a:p>
        </p:txBody>
      </p:sp>
      <p:sp>
        <p:nvSpPr>
          <p:cNvPr id="4" name="title"/>
          <p:cNvSpPr txBox="1"/>
          <p:nvPr/>
        </p:nvSpPr>
        <p:spPr>
          <a:xfrm>
            <a:off x="457200" y="713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パスワードではなく「鍵」で入る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108960" cy="2514600"/>
          </a:xfrm>
          <a:prstGeom prst="roundRect">
            <a:avLst>
              <a:gd name="adj" fmla="val 4364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91640"/>
            <a:ext cx="502920" cy="50292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1817370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1691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手元の端末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5800" y="2377440"/>
            <a:ext cx="2651760" cy="548640"/>
          </a:xfrm>
          <a:prstGeom prst="roundRect">
            <a:avLst>
              <a:gd name="adj" fmla="val 16667"/>
            </a:avLst>
          </a:prstGeom>
          <a:solidFill>
            <a:srgbClr val="1D4A57"/>
          </a:solidFill>
          <a:ln w="12700">
            <a:solidFill>
              <a:srgbClr val="1D4A57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146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8872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秘密鍵　外に出さない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85800" y="3063240"/>
            <a:ext cx="2651760" cy="548640"/>
          </a:xfrm>
          <a:prstGeom prst="roundRect">
            <a:avLst>
              <a:gd name="adj" fmla="val 16667"/>
            </a:avLst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0040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3063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公開鍵　これだけ渡す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3611880" y="3337560"/>
            <a:ext cx="1097280" cy="0"/>
          </a:xfrm>
          <a:prstGeom prst="line">
            <a:avLst/>
          </a:prstGeom>
          <a:noFill/>
          <a:ln w="31750">
            <a:solidFill>
              <a:srgbClr val="F2A33A"/>
            </a:solidFill>
            <a:prstDash val="solid"/>
            <a:tailEnd type="triangle"/>
          </a:ln>
        </p:spPr>
      </p:sp>
      <p:sp>
        <p:nvSpPr>
          <p:cNvPr id="16" name="Text 11"/>
          <p:cNvSpPr txBox="1"/>
          <p:nvPr/>
        </p:nvSpPr>
        <p:spPr>
          <a:xfrm>
            <a:off x="3566160" y="2926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33A"/>
                </a:solidFill>
              </a:rPr>
              <a:t>公開鍵だけ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754880" y="1463040"/>
            <a:ext cx="3931920" cy="2514600"/>
          </a:xfrm>
          <a:prstGeom prst="roundRect">
            <a:avLst>
              <a:gd name="adj" fmla="val 4364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983480" y="1691640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9210" y="1817370"/>
            <a:ext cx="251460" cy="25146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623560" y="1691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自宅Mac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4983480" y="2377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公開鍵をこのファイルに追記する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983480" y="2743200"/>
            <a:ext cx="3520440" cy="594360"/>
          </a:xfrm>
          <a:prstGeom prst="roundRect">
            <a:avLst>
              <a:gd name="adj" fmla="val 12308"/>
            </a:avLst>
          </a:prstGeom>
          <a:solidFill>
            <a:srgbClr val="0F2A33"/>
          </a:solidFill>
          <a:ln w="12700">
            <a:solidFill>
              <a:srgbClr val="0F2A33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5166360" y="27432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2A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~/.ssh/authorized_keys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4983480" y="34015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6"/>
                </a:solidFill>
              </a:rPr>
              <a:t>手順：①端末で鍵のペアを作る（Termiusなら「Keychain」、PCなら ssh-keygen）→ ②公開鍵をMacへ → ③接続時に鍵を指定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E8F6F0"/>
          </a:solidFill>
          <a:ln w="12700">
            <a:solidFill>
              <a:srgbClr val="E8F6F0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4270248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60120" y="41605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パスワードは盗まれると誰でも入れる。鍵なら「秘密鍵を持つ端末」からしか入れない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最後に接続テスト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572768"/>
            <a:ext cx="457200" cy="45720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463040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Macに入る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51760" y="1463040"/>
            <a:ext cx="3291840" cy="676656"/>
          </a:xfrm>
          <a:prstGeom prst="roundRect">
            <a:avLst>
              <a:gd name="adj" fmla="val 10811"/>
            </a:avLst>
          </a:prstGeom>
          <a:solidFill>
            <a:srgbClr val="0F2A33"/>
          </a:solidFill>
          <a:ln w="12700">
            <a:solidFill>
              <a:srgbClr val="0F2A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34640" y="1463040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2A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you@my-mac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463040"/>
            <a:ext cx="2560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86"/>
                </a:solidFill>
              </a:rPr>
              <a:t>you はMacのユーザ名、my-mac はTailscaleでの名前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14016"/>
            <a:ext cx="457200" cy="45720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04288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作業場をひらく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651760" y="2304288"/>
            <a:ext cx="3291840" cy="676656"/>
          </a:xfrm>
          <a:prstGeom prst="roundRect">
            <a:avLst>
              <a:gd name="adj" fmla="val 10811"/>
            </a:avLst>
          </a:prstGeom>
          <a:solidFill>
            <a:srgbClr val="0F2A33"/>
          </a:solidFill>
          <a:ln w="12700">
            <a:solidFill>
              <a:srgbClr val="0F2A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34640" y="2304288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2A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tmux new -A -s ai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304288"/>
            <a:ext cx="2560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86"/>
                </a:solidFill>
              </a:rPr>
              <a:t>「ai」という作業場があれば戻る、なければ作る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55264"/>
            <a:ext cx="457200" cy="45720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145536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AIを起動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51760" y="3145536"/>
            <a:ext cx="3291840" cy="676656"/>
          </a:xfrm>
          <a:prstGeom prst="roundRect">
            <a:avLst>
              <a:gd name="adj" fmla="val 10811"/>
            </a:avLst>
          </a:prstGeom>
          <a:solidFill>
            <a:srgbClr val="0F2A33"/>
          </a:solidFill>
          <a:ln w="12700">
            <a:solidFill>
              <a:srgbClr val="0F2A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834640" y="3145536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2A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3145536"/>
            <a:ext cx="2560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86"/>
                </a:solidFill>
              </a:rPr>
              <a:t>Codex なら codex。これで外からAIに頼める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E8F6F0"/>
          </a:solidFill>
          <a:ln w="9525">
            <a:solidFill>
              <a:srgbClr val="E8F6F0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4178808"/>
            <a:ext cx="237744" cy="237744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960120" y="39776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Wi-Fiを切って、モバイル回線でも入れることを確認</a:t>
            </a:r>
            <a:endParaRPr lang="en-US" sz="125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4178808"/>
            <a:ext cx="237744" cy="237744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230368" y="39776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名前で入れなければ住所（100.x.y.z）で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実際の使い方の流れ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197864" y="2075688"/>
            <a:ext cx="6748272" cy="0"/>
          </a:xfrm>
          <a:prstGeom prst="line">
            <a:avLst/>
          </a:prstGeom>
          <a:noFill/>
          <a:ln w="25400">
            <a:solidFill>
              <a:srgbClr val="DCE7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9244" y="1691640"/>
            <a:ext cx="777240" cy="77724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554" y="188595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60604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接続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3017520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Tailscaleをオンにして ssh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496312" y="1691640"/>
            <a:ext cx="777240" cy="77724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622" y="1885950"/>
            <a:ext cx="388620" cy="3886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144268" y="260604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作業場に戻る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2189988" y="3017520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tmux new -A -s ai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183380" y="1691640"/>
            <a:ext cx="777240" cy="77724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7690" y="1885950"/>
            <a:ext cx="388620" cy="3886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831336" y="260604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AIに頼む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3877056" y="3017520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「○○を調べてまとめて」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870448" y="1691640"/>
            <a:ext cx="777240" cy="77724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4758" y="1885950"/>
            <a:ext cx="388620" cy="3886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518404" y="260604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切断して移動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5564124" y="3017520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アプリを閉じてOK。AIは動き続ける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7557516" y="1691640"/>
            <a:ext cx="777240" cy="77724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1826" y="1885950"/>
            <a:ext cx="388620" cy="3886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205472" y="260604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あとで確認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7251192" y="3017520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再接続すると結果が待っている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E8F6F0"/>
          </a:solidFill>
          <a:ln w="12700">
            <a:solidFill>
              <a:srgbClr val="E8F6F0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4270248"/>
            <a:ext cx="237744" cy="237744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960120" y="41605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「頼んで、切って、あとで見る」。スマホを見続ける必要はない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この仕組みのメリット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50876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874520"/>
            <a:ext cx="640080" cy="64008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20345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7373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ポート開放が不要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21031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ルーターの設定を触らない。外部に入口を作らないので安全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50876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46320" y="1874520"/>
            <a:ext cx="640080" cy="64008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203454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69280" y="17373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自宅Macの力をそのまま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669280" y="21031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ファイルも、入れてあるツールも、自宅Macのものをそのまま使える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306324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3429000"/>
            <a:ext cx="640080" cy="64008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5890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63040" y="32918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端末を選ばない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463040" y="36576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スマホ・タブレット・PC、Tailscaleとsshが使えれば何でもよい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663440" y="306324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46320" y="3429000"/>
            <a:ext cx="640080" cy="64008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358902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669280" y="32918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切れても止まらない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669280" y="36576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tmuxのおかげで、回線が切れてもAIの作業は続く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注意点とセキュリティ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50876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874520"/>
            <a:ext cx="640080" cy="64008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20345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7373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ポートは開けない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21031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入口はTailscaleだけ。ルーターのポート開放や「どこからでもSSH」は作らない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50876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46320" y="1874520"/>
            <a:ext cx="640080" cy="64008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203454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69280" y="17373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鍵で入る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669280" y="21031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パスワードは使わない。慣れたらパスワードログインを無効にするとより安全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306324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3429000"/>
            <a:ext cx="640080" cy="64008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5890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63040" y="32918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電源と回線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463040" y="36576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停電・スリープ・回線断でMacが止まれば、当然つながらない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663440" y="306324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EAF3F4"/>
          </a:solidFill>
          <a:ln w="9525">
            <a:solidFill>
              <a:srgbClr val="EAF3F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46320" y="3429000"/>
            <a:ext cx="640080" cy="64008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358902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669280" y="32918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ログインの期限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669280" y="36576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Tailscaleの端末認証は既定で180日。切れたらMacで再ログインする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33A"/>
                </a:solidFill>
              </a:rPr>
              <a:t>まとめ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chemeClr val="bg1"/>
                </a:solidFill>
              </a:rPr>
              <a:t>家のMacを、どこからでも使える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chemeClr val="bg1"/>
                </a:solidFill>
              </a:rPr>
              <a:t>AIの作業場に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277749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26060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設定は Mac側4つ ＋ 端末側3つ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292608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DCE2"/>
                </a:solidFill>
              </a:rPr>
              <a:t>スリープ／リモートログイン／Tailscale／CLI・tmux、端末もTailscale／SSHアプリ／鍵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3337560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10" y="346329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32918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入口はTailscaleだけ、鍵で入る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61188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DCE2"/>
                </a:solidFill>
              </a:rPr>
              <a:t>ポートは開けない。パスワードは使わない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4023360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414909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776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頼んで、切って、あとで確認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9768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DCE2"/>
                </a:solidFill>
              </a:rPr>
              <a:t>tmuxがあるので、移動中もAIは働き続ける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meMacAI">
  <a:themeElements>
    <a:clrScheme name="HomeMacAI">
      <a:dk1>
        <a:srgbClr val="233240"/>
      </a:dk1>
      <a:lt1>
        <a:srgbClr val="FFFFFF"/>
      </a:lt1>
      <a:dk2>
        <a:srgbClr val="1D4A57"/>
      </a:dk2>
      <a:lt2>
        <a:srgbClr val="EAF3F4"/>
      </a:lt2>
      <a:accent1>
        <a:srgbClr val="2A8C9E"/>
      </a:accent1>
      <a:accent2>
        <a:srgbClr val="F2A33A"/>
      </a:accent2>
      <a:accent3>
        <a:srgbClr val="6B7C86"/>
      </a:accent3>
      <a:accent4>
        <a:srgbClr val="DCE7EA"/>
      </a:accent4>
      <a:accent5>
        <a:srgbClr val="0F2A33"/>
      </a:accent5>
      <a:accent6>
        <a:srgbClr val="E8F6F0"/>
      </a:accent6>
      <a:hlink>
        <a:srgbClr val="2A8C9E"/>
      </a:hlink>
      <a:folHlink>
        <a:srgbClr val="2A8C9E"/>
      </a:folHlink>
    </a:clrScheme>
    <a:fontScheme name="HomeMacAI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外出先のスマホから、自宅MacのAIに仕事を振る</dc:title>
  <dc:subject>PptxGenJS Presentation</dc:subject>
  <dc:creator/>
  <cp:lastModifiedBy/>
  <cp:revision>1</cp:revision>
  <dcterms:created xsi:type="dcterms:W3CDTF">2026-10-27T05:27:18Z</dcterms:created>
  <dcterms:modified xsi:type="dcterms:W3CDTF">2026-10-27T05:27:18Z</dcterms:modified>
</cp:coreProperties>
</file>